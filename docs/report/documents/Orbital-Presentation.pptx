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media/image7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61" r:id="rId7"/>
  </p:sldIdLst>
  <p:sldSz cx="12192000" cy="6858000"/>
  <p:notesSz cx="6858000" cy="12192000"/>
  <p:embeddedFontLst>
    <p:embeddedFont>
      <p:font typeface="Roboto" panose="02000000000000000000" pitchFamily="2" charset="0"/>
      <p:regular r:id="rId9"/>
    </p:embeddedFont>
    <p:embeddedFont>
      <p:font typeface="Roboto Bold" panose="020B0604020202020204" charset="0"/>
      <p:regular r:id="rId10"/>
    </p:embeddedFont>
    <p:embeddedFont>
      <p:font typeface="Saira Medium" panose="020B0604020202020204" charset="0"/>
      <p:regular r:id="rId1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1" d="100"/>
          <a:sy n="131" d="100"/>
        </p:scale>
        <p:origin x="101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font" Target="fonts/font1.fntdata"/><Relationship Id="rId10" Type="http://schemas.openxmlformats.org/officeDocument/2006/relationships/font" Target="fonts/font2.fntdata"/><Relationship Id="rId11" Type="http://schemas.openxmlformats.org/officeDocument/2006/relationships/font" Target="fonts/font3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1046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Six work packages. Note that backend is broken down by delivered phase rather than by component — that is what makes the cost of each new object type visible.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Milestones at weeks 3, 8 and 11. The critical path is the first vertical slice; everything after it runs in parallel because the shared data shape was fixed before any provider was written.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R1 is the one that actually happened: the architecture was designed so that losing a feed costs one module, and when OpenSky went it cost exactly that. R4 is the one with a ceiling, and be ready for the follow-up - scaling is vertical only, because a second worker would open a second AIS socket and the two stores would disagree. Past a bigger box the design has to change, and 4.6 says so. The full register of ten is section 4.6.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Five external feeds, three internal layers. The single most important property: upstream failure is contained at layer 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Four languages. The one worth a sentence is GLSL — the shaders are written by hand rather than taken from a library, because the markers, the orbit shells and the day-night terminator all draw inside MapLibre's WebGL context and there is no component that does that. Everything else on this slide is a deliberate choice to not write something ourselves.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honest cost: Orbital cannot answer a question about last Tuesday. Entitlement windows are bounded by what is still in memory, not by a query.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Seven concrete providers, one abstraction. The API never holds a Provider, so there is no call path from a request to a socket.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peaker notes"/>
          <p:cNvSpPr txBox="1"/>
          <p:nvPr/>
        </p:nvSpPr>
        <p:spPr>
          <a:xfrm>
            <a:off x="548640" y="548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status bar states that 2,000 of 13,607 objects in view are drawn, how old the data is, and which feed answered. A tracker that showed a sample as though it were everything would be easier to build and would be lying.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0303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svg"/><Relationship Id="rId4" Type="http://schemas.openxmlformats.org/officeDocument/2006/relationships/image" Target="../media/image8.svg"/><Relationship Id="rId5" Type="http://schemas.openxmlformats.org/officeDocument/2006/relationships/image" Target="../media/image9.png"/><Relationship Id="rId6" Type="http://schemas.openxmlformats.org/officeDocument/2006/relationships/image" Target="../media/image3.png"/><Relationship Id="rId7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88376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Orbital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6" y="2757884"/>
            <a:ext cx="8217830" cy="1630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51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Live Aircraft, Ship &amp; Satellite Tracking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661475" y="4671715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CSC480 · Team Orbital ·  </a:t>
            </a:r>
            <a:endParaRPr lang="en-US" sz="14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2EE799-85C7-0572-20B4-B7329CD80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pic>
        <p:nvPicPr>
          <p:cNvPr id="10" name="Orbital logo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40808" y="1876482"/>
            <a:ext cx="3097652" cy="30976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2775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The Problem: Fragmented &amp; Closed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396430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tracking data for aircraft, ships, and satellites </a:t>
            </a:r>
            <a:r>
              <a:rPr lang="en-US" sz="14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does exist</a:t>
            </a: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but it's scattered across siloed APIs, raw and unprocessed, metered by strict rate limits, and locked behind commercial paywalls. No free tool shows all three on a single map.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3213894"/>
            <a:ext cx="10868745" cy="2216348"/>
          </a:xfrm>
          <a:prstGeom prst="roundRect">
            <a:avLst>
              <a:gd name="adj" fmla="val 7676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0524" y="3232944"/>
            <a:ext cx="5415323" cy="1089124"/>
          </a:xfrm>
          <a:custGeom>
            <a:avLst/>
            <a:gdLst/>
            <a:ahLst/>
            <a:cxnLst/>
            <a:rect l="l" t="t" r="r" b="b"/>
            <a:pathLst>
              <a:path w="5415323" h="1089124">
                <a:moveTo>
                  <a:pt x="141764" y="0"/>
                </a:moveTo>
                <a:lnTo>
                  <a:pt x="5415323" y="0"/>
                </a:lnTo>
                <a:lnTo>
                  <a:pt x="5415323" y="1089124"/>
                </a:lnTo>
                <a:lnTo>
                  <a:pt x="0" y="1089124"/>
                </a:lnTo>
                <a:lnTo>
                  <a:pt x="0" y="141768"/>
                </a:lnTo>
                <a:arcTo wR="141764" hR="141768" stAng="10800000" swAng="5400000"/>
                <a:close/>
              </a:path>
            </a:pathLst>
          </a:custGeom>
          <a:solidFill>
            <a:srgbClr val="03030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9531" y="3421955"/>
            <a:ext cx="50373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Fragmented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869531" y="3830638"/>
            <a:ext cx="503730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lives in separate, incompatible sources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095848" y="3232944"/>
            <a:ext cx="5415323" cy="1089124"/>
          </a:xfrm>
          <a:custGeom>
            <a:avLst/>
            <a:gdLst/>
            <a:ahLst/>
            <a:cxnLst/>
            <a:rect l="l" t="t" r="r" b="b"/>
            <a:pathLst>
              <a:path w="5415323" h="1089124">
                <a:moveTo>
                  <a:pt x="0" y="0"/>
                </a:moveTo>
                <a:lnTo>
                  <a:pt x="5273559" y="0"/>
                </a:lnTo>
                <a:arcTo wR="141764" hR="141768" stAng="16200000" swAng="5400000"/>
                <a:lnTo>
                  <a:pt x="5415323" y="1089124"/>
                </a:lnTo>
                <a:lnTo>
                  <a:pt x="0" y="1089124"/>
                </a:lnTo>
                <a:lnTo>
                  <a:pt x="0" y="0"/>
                </a:lnTo>
                <a:close/>
              </a:path>
            </a:pathLst>
          </a:custGeom>
          <a:solidFill>
            <a:srgbClr val="03030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095848" y="3232944"/>
            <a:ext cx="25399" cy="1089124"/>
          </a:xfrm>
          <a:prstGeom prst="roundRect">
            <a:avLst>
              <a:gd name="adj" fmla="val 50001"/>
            </a:avLst>
          </a:prstGeom>
          <a:solidFill>
            <a:srgbClr val="E269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284854" y="3421955"/>
            <a:ext cx="50373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Raw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6284854" y="3830638"/>
            <a:ext cx="503730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Unprocessed, inconsistent formats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80524" y="4322068"/>
            <a:ext cx="5415323" cy="1089124"/>
          </a:xfrm>
          <a:custGeom>
            <a:avLst/>
            <a:gdLst/>
            <a:ahLst/>
            <a:cxnLst/>
            <a:rect l="l" t="t" r="r" b="b"/>
            <a:pathLst>
              <a:path w="5415323" h="1089124">
                <a:moveTo>
                  <a:pt x="0" y="0"/>
                </a:moveTo>
                <a:lnTo>
                  <a:pt x="5415323" y="0"/>
                </a:lnTo>
                <a:lnTo>
                  <a:pt x="5415323" y="1089124"/>
                </a:lnTo>
                <a:lnTo>
                  <a:pt x="141764" y="1089124"/>
                </a:lnTo>
                <a:arcTo wR="141764" hR="141768" stAng="5400000" swAng="5400000"/>
                <a:lnTo>
                  <a:pt x="0" y="0"/>
                </a:lnTo>
                <a:close/>
              </a:path>
            </a:pathLst>
          </a:custGeom>
          <a:solidFill>
            <a:srgbClr val="03030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80524" y="4322068"/>
            <a:ext cx="5415323" cy="25400"/>
          </a:xfrm>
          <a:prstGeom prst="roundRect">
            <a:avLst>
              <a:gd name="adj" fmla="val 49999"/>
            </a:avLst>
          </a:prstGeom>
          <a:solidFill>
            <a:srgbClr val="E269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69531" y="4511080"/>
            <a:ext cx="50373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Metered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869531" y="4919762"/>
            <a:ext cx="503730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Strict rate limits on every API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095848" y="4322068"/>
            <a:ext cx="5415323" cy="1089124"/>
          </a:xfrm>
          <a:custGeom>
            <a:avLst/>
            <a:gdLst/>
            <a:ahLst/>
            <a:cxnLst/>
            <a:rect l="l" t="t" r="r" b="b"/>
            <a:pathLst>
              <a:path w="5415323" h="1089124">
                <a:moveTo>
                  <a:pt x="0" y="0"/>
                </a:moveTo>
                <a:lnTo>
                  <a:pt x="5415323" y="0"/>
                </a:lnTo>
                <a:lnTo>
                  <a:pt x="5415323" y="947357"/>
                </a:lnTo>
                <a:arcTo wR="141764" hR="141768" stAng="0" swAng="5400000"/>
                <a:lnTo>
                  <a:pt x="0" y="1089124"/>
                </a:lnTo>
                <a:lnTo>
                  <a:pt x="0" y="0"/>
                </a:lnTo>
                <a:close/>
              </a:path>
            </a:pathLst>
          </a:custGeom>
          <a:solidFill>
            <a:srgbClr val="03030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95848" y="4322068"/>
            <a:ext cx="25399" cy="1089124"/>
          </a:xfrm>
          <a:prstGeom prst="roundRect">
            <a:avLst>
              <a:gd name="adj" fmla="val 50001"/>
            </a:avLst>
          </a:prstGeom>
          <a:solidFill>
            <a:srgbClr val="E269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095848" y="4322068"/>
            <a:ext cx="5415323" cy="25400"/>
          </a:xfrm>
          <a:prstGeom prst="roundRect">
            <a:avLst>
              <a:gd name="adj" fmla="val 49999"/>
            </a:avLst>
          </a:prstGeom>
          <a:solidFill>
            <a:srgbClr val="E269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84854" y="4511080"/>
            <a:ext cx="503730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Closed</a:t>
            </a:r>
            <a:endParaRPr lang="en-US" sz="1850" dirty="0"/>
          </a:p>
        </p:txBody>
      </p:sp>
      <p:sp>
        <p:nvSpPr>
          <p:cNvPr id="20" name="Text 18"/>
          <p:cNvSpPr/>
          <p:nvPr/>
        </p:nvSpPr>
        <p:spPr>
          <a:xfrm>
            <a:off x="6284854" y="4919762"/>
            <a:ext cx="5037309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gatekeeping blocks free access</a:t>
            </a:r>
            <a:endParaRPr lang="en-US" sz="145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D5A6A5B-50E0-9431-83F8-9475F69D9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42032"/>
            <a:ext cx="10868745" cy="535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Architecture &amp; Methodology </a:t>
            </a:r>
            <a:endParaRPr lang="en-US" sz="3350" dirty="0"/>
          </a:p>
        </p:txBody>
      </p:sp>
      <p:sp>
        <p:nvSpPr>
          <p:cNvPr id="3" name="Text 1"/>
          <p:cNvSpPr/>
          <p:nvPr/>
        </p:nvSpPr>
        <p:spPr>
          <a:xfrm>
            <a:off x="661475" y="1387773"/>
            <a:ext cx="10868745" cy="522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Orbital is built on a </a:t>
            </a:r>
            <a:r>
              <a:rPr lang="en-US" sz="13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strictly </a:t>
            </a:r>
            <a:r>
              <a:rPr lang="en-US" sz="14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one-directional pipeline </a:t>
            </a: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also known as </a:t>
            </a:r>
            <a:r>
              <a:rPr lang="en-US" sz="14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Incremental Development</a:t>
            </a: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: data flows Ingestion → API → Frontend. Each layer has a single responsibility, and the frontend never touches a raw external source.</a:t>
            </a:r>
            <a:endParaRPr lang="en-US" sz="1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5325" y="2076901"/>
            <a:ext cx="7848886" cy="35338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31494" y="4756139"/>
            <a:ext cx="2445424" cy="305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Frontend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1931494" y="3690995"/>
            <a:ext cx="2445424" cy="305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API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1931494" y="2614981"/>
            <a:ext cx="2445424" cy="305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Ingestion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61475" y="5793383"/>
            <a:ext cx="10868745" cy="5224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</a:t>
            </a:r>
            <a:r>
              <a:rPr lang="en-US" sz="13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single shared data shape</a:t>
            </a:r>
            <a:r>
              <a:rPr lang="en-US" sz="130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unifies aircraft, satellites, and ships — so adding a new object type costs one ingestion module and zero frontend changes.</a:t>
            </a:r>
            <a:endParaRPr lang="en-US" sz="13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2E7193-AF3A-F9C2-2A63-C27201328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94630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Feasibility &amp; Performance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757759"/>
            <a:ext cx="350421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Live Data at Scale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661475" y="2242046"/>
            <a:ext cx="3504219" cy="151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Orbital is built entirely on </a:t>
            </a:r>
            <a:r>
              <a:rPr lang="en-US" sz="14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free, publicly available data sources</a:t>
            </a: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. The technical challenge is manageable — the real constraint is rate limiting, not data availability.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61475" y="4013994"/>
            <a:ext cx="3504219" cy="25400"/>
          </a:xfrm>
          <a:prstGeom prst="roundRect">
            <a:avLst>
              <a:gd name="adj" fmla="val 49999"/>
            </a:avLst>
          </a:prstGeom>
          <a:solidFill>
            <a:srgbClr val="E5E0DF">
              <a:alpha val="5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1475" y="4299248"/>
            <a:ext cx="350421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Rendering Targets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661475" y="4783534"/>
            <a:ext cx="3504219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Both API response times and frontend rendering performance sit </a:t>
            </a:r>
            <a:r>
              <a:rPr lang="en-US" sz="14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comfortably inside target thresholds</a:t>
            </a: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, even under full load with all three object types active.</a:t>
            </a:r>
            <a:endParaRPr lang="en-US" sz="145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EF3A9E-7DEE-CCFC-2D8B-1470EBD63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pic>
        <p:nvPicPr>
          <p:cNvPr id="9" name="Picture 8" descr="2-1-backend-cost-per-s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000" y="2049460"/>
            <a:ext cx="6600000" cy="392107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6">
            <a:extLst>
              <a:ext uri="{FF2B5EF4-FFF2-40B4-BE49-F238E27FC236}">
                <a16:creationId xmlns:a16="http://schemas.microsoft.com/office/drawing/2014/main" id="{1BE4933A-DFD9-19B7-E889-B881A99597E8}"/>
              </a:ext>
            </a:extLst>
          </p:cNvPr>
          <p:cNvSpPr/>
          <p:nvPr/>
        </p:nvSpPr>
        <p:spPr>
          <a:xfrm>
            <a:off x="6282379" y="1844878"/>
            <a:ext cx="5630627" cy="3650380"/>
          </a:xfrm>
          <a:prstGeom prst="roundRect">
            <a:avLst>
              <a:gd name="adj" fmla="val 6837"/>
            </a:avLst>
          </a:prstGeom>
          <a:solidFill>
            <a:schemeClr val="bg1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661627" y="47125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Reliability &amp; Use case 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627" y="1061908"/>
            <a:ext cx="5899746" cy="6804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Upstream failure is expected, not exceptional. Orbital handles it</a:t>
            </a:r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at every layer so the user never sees a blank screen.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60278" y="2040555"/>
            <a:ext cx="2497675" cy="3145182"/>
          </a:xfrm>
          <a:prstGeom prst="roundRect">
            <a:avLst>
              <a:gd name="adj" fmla="val 6837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0465" y="2236585"/>
            <a:ext cx="534152" cy="519494"/>
          </a:xfrm>
          <a:prstGeom prst="ellipse">
            <a:avLst/>
          </a:prstGeom>
          <a:solidFill>
            <a:srgbClr val="FC833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6317" y="2333648"/>
            <a:ext cx="322449" cy="32245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334" y="3004663"/>
            <a:ext cx="2289619" cy="373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Stale-but-Flagged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768334" y="3413344"/>
            <a:ext cx="2289619" cy="1146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a source goes dark, last-known data is served with a visible freshness indicator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310750" y="2040555"/>
            <a:ext cx="2598873" cy="3145182"/>
          </a:xfrm>
          <a:prstGeom prst="roundRect">
            <a:avLst>
              <a:gd name="adj" fmla="val 6837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546970" y="2296125"/>
            <a:ext cx="578058" cy="539184"/>
          </a:xfrm>
          <a:prstGeom prst="ellipse">
            <a:avLst/>
          </a:prstGeom>
          <a:solidFill>
            <a:srgbClr val="FC833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74775" y="2404489"/>
            <a:ext cx="322449" cy="32245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18807" y="3004663"/>
            <a:ext cx="2289619" cy="373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Dual Sources</a:t>
            </a:r>
            <a:endParaRPr lang="en-US" sz="1850" dirty="0"/>
          </a:p>
        </p:txBody>
      </p:sp>
      <p:sp>
        <p:nvSpPr>
          <p:cNvPr id="13" name="Text 9"/>
          <p:cNvSpPr/>
          <p:nvPr/>
        </p:nvSpPr>
        <p:spPr>
          <a:xfrm>
            <a:off x="3518807" y="3413344"/>
            <a:ext cx="2289619" cy="1146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Critical object types are backed by two independent feeds — one failure is never fatal</a:t>
            </a:r>
            <a:endParaRPr lang="en-US" sz="145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D55B9EA1-BD71-D1C6-0A59-4610AEC0C4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pic>
        <p:nvPicPr>
          <p:cNvPr id="25" name="Picture 24" descr="3-1-use-case-diagram-sli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5272" y="1984248"/>
            <a:ext cx="5246015" cy="33741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420515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FFFFF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What Orbital Delivers</a:t>
            </a:r>
            <a:endParaRPr lang="en-US" sz="3700" dirty="0"/>
          </a:p>
        </p:txBody>
      </p:sp>
      <p:sp>
        <p:nvSpPr>
          <p:cNvPr id="3" name="Shape 1"/>
          <p:cNvSpPr/>
          <p:nvPr/>
        </p:nvSpPr>
        <p:spPr>
          <a:xfrm>
            <a:off x="661475" y="2389187"/>
            <a:ext cx="5339820" cy="1429643"/>
          </a:xfrm>
          <a:prstGeom prst="roundRect">
            <a:avLst>
              <a:gd name="adj" fmla="val 11899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69531" y="2597249"/>
            <a:ext cx="492370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One Map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869531" y="3005931"/>
            <a:ext cx="492370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Aircraft, ships, and satellites — unified, free, in a single browser view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190301" y="2389187"/>
            <a:ext cx="5339919" cy="1429643"/>
          </a:xfrm>
          <a:prstGeom prst="roundRect">
            <a:avLst>
              <a:gd name="adj" fmla="val 11899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398358" y="2597249"/>
            <a:ext cx="49238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Resilient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6398358" y="3005931"/>
            <a:ext cx="49238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Survives upstream failure with flagged stale data and dual-source fallbacks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61475" y="4007842"/>
            <a:ext cx="5339820" cy="1429643"/>
          </a:xfrm>
          <a:prstGeom prst="roundRect">
            <a:avLst>
              <a:gd name="adj" fmla="val 11899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9531" y="4215904"/>
            <a:ext cx="492370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Extensible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869531" y="4624586"/>
            <a:ext cx="492370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New object types cost one module — the architecture scales without rework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190301" y="4007842"/>
            <a:ext cx="5339919" cy="1429643"/>
          </a:xfrm>
          <a:prstGeom prst="roundRect">
            <a:avLst>
              <a:gd name="adj" fmla="val 11899"/>
            </a:avLst>
          </a:prstGeom>
          <a:solidFill>
            <a:srgbClr val="030303"/>
          </a:solidFill>
          <a:ln w="19050">
            <a:solidFill>
              <a:srgbClr val="FC83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98358" y="4215904"/>
            <a:ext cx="492380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5E0DF"/>
                </a:solidFill>
                <a:latin typeface="Saira Medium" pitchFamily="34" charset="0"/>
                <a:ea typeface="Saira Medium" pitchFamily="34" charset="-122"/>
                <a:cs typeface="Saira Medium" pitchFamily="34" charset="-120"/>
              </a:rPr>
              <a:t>Performant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6398358" y="4624586"/>
            <a:ext cx="4923806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E5E0D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aircraft rendered in under 2 seconds, rate-limit budget protected</a:t>
            </a:r>
            <a:endParaRPr lang="en-US" sz="14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569C8CB-EA1D-2CD3-E17F-A81CA2076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Planning: six packages, five people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Seven roles across five members, so most hold two. Work is decomposed to the level where one person owns one deliverable — any deeper and a WBS is a task list that is stale in a week.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38917" y="1783080"/>
            <a:ext cx="4941284" cy="4709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-1-work-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645" y="1892808"/>
            <a:ext cx="4721828" cy="44897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20574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Saira Medium"/>
              </a:rPr>
              <a:t>Phase, not component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Package 3 is split by delivered phase.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A component split would describe the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architecture, not the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Saira Medium"/>
              </a:rPr>
              <a:t>One owner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25196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Every 1.x deliverable has a name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against it, not a team.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The plan, and the three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Twelve weeks. This is the plan the team worked to, not a chart redrawn afterwards to match what happened — keeping those apart is the only reason comparing them is worth anything.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27579" y="1783080"/>
            <a:ext cx="5163961" cy="4709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-2-gantt-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7307" y="1892808"/>
            <a:ext cx="4944505" cy="44897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20574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Saira Medium"/>
              </a:rPr>
              <a:t>The critical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Requirements → data contract →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first provider → poller and store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→ API → first layer on screen.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Saira Medium"/>
              </a:rPr>
              <a:t>Then it goes parallel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25196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Satellites, ships and accounts each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touch a different provider or route.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None blocks another — by design.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Risks, and what they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Graded by likelihood and impact, each with the mitigation that was actually built. One of them happened.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965960"/>
            <a:ext cx="5230368" cy="1938528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222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85415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R1  Upstream feed disappears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36007" y="2221991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FC8337"/>
                </a:solidFill>
                <a:latin typeface="Saira Medium"/>
              </a:rPr>
              <a:t>HAPPENED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39"/>
            <a:ext cx="47183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OpenSky became unreachable from every cloud host, mid-project.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72968"/>
            <a:ext cx="47183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FC8337"/>
                </a:solidFill>
                <a:latin typeface="Roboto"/>
              </a:rPr>
              <a:t>Cost: one provider module and one registry entry. Nothing above the ingestion layer changed.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65960"/>
            <a:ext cx="5230368" cy="1938528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185415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R2  Rate limited or banned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5559" y="2221991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E5E0DF"/>
                </a:solidFill>
                <a:latin typeface="Saira Medium"/>
              </a:rPr>
              <a:t>HELD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606039"/>
            <a:ext cx="47183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One backend for all viewers; limits measured, not assumed.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3172968"/>
            <a:ext cx="47183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Four requests a minute against a measured cap of five.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178808"/>
            <a:ext cx="5230368" cy="1938528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9826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R3  Browser cannot draw the count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7" y="4434840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E5E0DF"/>
                </a:solidFill>
                <a:latin typeface="Saira Medium"/>
              </a:rPr>
              <a:t>HELD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18888"/>
            <a:ext cx="47183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40,000 objects is not a legible map at any frame rate.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85816"/>
            <a:ext cx="47183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Responses thinned to 2,000; one layer at a time; positions interpolated between polls.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178808"/>
            <a:ext cx="5230368" cy="1938528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439826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R4  Traffic outgrows one backend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5559" y="4434840"/>
            <a:ext cx="1005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E5E0DF"/>
                </a:solidFill>
                <a:latin typeface="Saira Medium"/>
              </a:rPr>
              <a:t>HELD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818888"/>
            <a:ext cx="471830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One worker serves every viewer, on a free tier, single-threaded.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5385816"/>
            <a:ext cx="4718304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Viewer count costs no upstream quota. Twenty-nine polls in thirty answer 304 without building a response.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Three layers, one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Each layer knows only the layer beneath it. The browser never talks to a data source, so rate limiting is enforced in exactly one place — a hundred tabs cost the same quota as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51798" y="1783080"/>
            <a:ext cx="6057923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-1-system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1526" y="1892808"/>
            <a:ext cx="5838467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What it is built with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Four languages, and a short list of libraries doing the work that would otherwise be 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288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C8337"/>
                </a:solidFill>
                <a:latin typeface="Saira Medium"/>
              </a:rPr>
              <a:t>LANGUAGES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40280"/>
            <a:ext cx="5120640" cy="960120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aira Medium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085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E5E0DF"/>
                </a:solidFill>
                <a:latin typeface="Roboto"/>
              </a:rPr>
              <a:t>The backend: ingestion, the REST API, accounts. Pydantic turns the data contract into something that runs.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310128"/>
            <a:ext cx="5120640" cy="960120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65576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aira Medium"/>
              </a:rPr>
              <a:t>TypeScript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13048"/>
            <a:ext cx="46085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E5E0DF"/>
                </a:solidFill>
                <a:latin typeface="Roboto"/>
              </a:rPr>
              <a:t>The frontend: the map, the object layers, the interface. The same contract, enforced at compile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379976"/>
            <a:ext cx="5120640" cy="960120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3542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aira Medium"/>
              </a:rPr>
              <a:t>GLSL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82896"/>
            <a:ext cx="46085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E5E0DF"/>
                </a:solidFill>
                <a:latin typeface="Roboto"/>
              </a:rPr>
              <a:t>Shaders written by hand for the marker, orbit-shell and terminator layers, inside MapLibre's WebGL context.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449824"/>
            <a:ext cx="5120640" cy="960120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05272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Saira Medium"/>
              </a:rPr>
              <a:t>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952744"/>
            <a:ext cx="460857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E5E0DF"/>
                </a:solidFill>
                <a:latin typeface="Roboto"/>
              </a:rPr>
              <a:t>Two tables — accounts and sessions. The only state that survives a restart.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18288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C8337"/>
                </a:solidFill>
                <a:latin typeface="Saira Medium"/>
              </a:rPr>
              <a:t>AND THE LIBRARIES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240280"/>
            <a:ext cx="5175504" cy="4224528"/>
          </a:xfrm>
          <a:prstGeom prst="roundRect">
            <a:avLst>
              <a:gd name="adj" fmla="val 3000"/>
            </a:avLst>
          </a:prstGeom>
          <a:solidFill>
            <a:srgbClr val="030303"/>
          </a:solidFill>
          <a:ln w="9525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46888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C8337"/>
                </a:solidFill>
                <a:latin typeface="Saira Medium"/>
              </a:rPr>
              <a:t>Map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2468880"/>
            <a:ext cx="3383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Saira Medium"/>
              </a:rPr>
              <a:t>MapLibre GL JS  ·  three.js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779776"/>
            <a:ext cx="338328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>
                <a:solidFill>
                  <a:srgbClr val="E5E0DF"/>
                </a:solidFill>
                <a:latin typeface="Roboto"/>
              </a:rPr>
              <a:t>One view from globe to street level, and the selected aircraft drawn as a 3D model inside MapLibre's own context.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C8337"/>
                </a:solidFill>
                <a:latin typeface="Saira Medium"/>
              </a:rPr>
              <a:t>Frontend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401568"/>
            <a:ext cx="3383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Saira Medium"/>
              </a:rPr>
              <a:t>React  ·  Vite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221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C8337"/>
                </a:solidFill>
                <a:latin typeface="Saira Medium"/>
              </a:rPr>
              <a:t>Backend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3822192"/>
            <a:ext cx="3383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Saira Medium"/>
              </a:rPr>
              <a:t>FastAPI  ·  httpx  ·  websockets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4133088"/>
            <a:ext cx="338328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>
                <a:solidFill>
                  <a:srgbClr val="E5E0DF"/>
                </a:solidFill>
                <a:latin typeface="Roboto"/>
              </a:rPr>
              <a:t>Async throughout: polling never blocks a request, and the AIS stream pushes rather than being asked.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5488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C8337"/>
                </a:solidFill>
                <a:latin typeface="Saira Medium"/>
              </a:rPr>
              <a:t>Orbits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754880"/>
            <a:ext cx="3383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Saira Medium"/>
              </a:rPr>
              <a:t>sgp4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5065776"/>
            <a:ext cx="338328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>
                <a:solidFill>
                  <a:srgbClr val="E5E0DF"/>
                </a:solidFill>
                <a:latin typeface="Roboto"/>
              </a:rPr>
              <a:t>The standard propagator — satellite positions are computed, not fetched.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C8337"/>
                </a:solidFill>
                <a:latin typeface="Saira Medium"/>
              </a:rPr>
              <a:t>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5687568"/>
            <a:ext cx="33832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Saira Medium"/>
              </a:rPr>
              <a:t>pytest  ·  Vitest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5998464"/>
            <a:ext cx="338328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0">
                <a:solidFill>
                  <a:srgbClr val="E5E0DF"/>
                </a:solidFill>
                <a:latin typeface="Roboto"/>
              </a:rPr>
              <a:t>Both run offline, against fixtures.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Two tables — and that is the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A tracker looks like a system that needs a large database. Orbital deliberately has almost none.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678" y="1783080"/>
            <a:ext cx="6309762" cy="4709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-2-er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406" y="1892808"/>
            <a:ext cx="6090306" cy="44897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20574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Saira Medium"/>
              </a:rPr>
              <a:t>Accounts and 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The only state worth surviving a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restart. The raw session token is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returned once and never stored.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84048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FFFFFF"/>
                </a:solidFill>
                <a:latin typeface="Saira Medium"/>
              </a:rPr>
              <a:t>Everything else is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25196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A poll replaces the snapshot.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No schema migration for the thing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E5E0DF"/>
                </a:solidFill>
                <a:latin typeface="Roboto"/>
              </a:rPr>
              <a:t>that changes most: a feed's shape.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Why a second feed cost one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UnionProvider inherits Provider and holds two of them. A caller cannot tell a pair of feeds from a single feed — which is why losing a primary source changed nothing above ingestion.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45137" y="1783080"/>
            <a:ext cx="7271244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-3-class-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4865" y="1892808"/>
            <a:ext cx="7051788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7256" y="6531519"/>
            <a:ext cx="1164744" cy="32648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475488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50" b="0">
                <a:solidFill>
                  <a:srgbClr val="FFFFFF"/>
                </a:solidFill>
                <a:latin typeface="Saira Medium"/>
              </a:rPr>
              <a:t>The interface, and the honesty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33856"/>
            <a:ext cx="1087221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E5E0DF"/>
                </a:solidFill>
                <a:latin typeface="Roboto"/>
              </a:rPr>
              <a:t>Captured from the live deployment. The counts in the status bar are the real ones at the moment of capture.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89087" y="1783080"/>
            <a:ext cx="7858064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C83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8815" y="1892808"/>
            <a:ext cx="7638608" cy="45354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96596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The map is the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5000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Controls sit in the corners.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Nothing floats over the centre.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44728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One layer at a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31336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Three at once is 40,000 markers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and no legible map.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928616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FFFFFF"/>
                </a:solidFill>
                <a:latin typeface="Saira Medium"/>
              </a:rPr>
              <a:t>It reports its own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312664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2,000 of 13,607 drawn, the data age,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E5E0DF"/>
                </a:solidFill>
                <a:latin typeface="Roboto"/>
              </a:rPr>
              <a:t>and which feed answered.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353</Words>
  <Application>Microsoft Office PowerPoint</Application>
  <PresentationFormat>Widescreen</PresentationFormat>
  <Paragraphs>46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Roboto Bold</vt:lpstr>
      <vt:lpstr>Roboto</vt:lpstr>
      <vt:lpstr>Saira Medium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Phone Sett Paing Kyaw</cp:lastModifiedBy>
  <cp:revision>3</cp:revision>
  <dcterms:created xsi:type="dcterms:W3CDTF">2026-09-08T03:15:10Z</dcterms:created>
  <dcterms:modified xsi:type="dcterms:W3CDTF">2026-09-08T05:22:35Z</dcterms:modified>
</cp:coreProperties>
</file>