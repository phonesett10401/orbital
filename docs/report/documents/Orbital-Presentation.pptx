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4.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2" r:id="rId16"/>
    <p:sldId id="263" r:id="rId17"/>
    <p:sldId id="264" r:id="rId18"/>
    <p:sldId id="265" r:id="rId19"/>
    <p:sldId id="266" r:id="rId20"/>
    <p:sldId id="267" r:id="rId21"/>
    <p:sldId id="268" r:id="rId22"/>
    <p:sldId id="261" r:id="rId7"/>
  </p:sldIdLst>
  <p:sldSz cx="12192000" cy="6858000"/>
  <p:notesSz cx="6858000" cy="12192000"/>
  <p:embeddedFontLst>
    <p:embeddedFont>
      <p:font typeface="Roboto" panose="02000000000000000000" pitchFamily="2" charset="0"/>
      <p:regular r:id="rId9"/>
    </p:embeddedFont>
    <p:embeddedFont>
      <p:font typeface="Roboto Bold" panose="020B0604020202020204" charset="0"/>
      <p:regular r:id="rId10"/>
    </p:embeddedFont>
    <p:embeddedFont>
      <p:font typeface="Saira Medium" panose="020B0604020202020204" charset="0"/>
      <p:regular r:id="rId1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1" d="100"/>
          <a:sy n="131" d="100"/>
        </p:scale>
        <p:origin x="101" y="25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font" Target="fonts/font1.fntdata"/><Relationship Id="rId10" Type="http://schemas.openxmlformats.org/officeDocument/2006/relationships/font" Target="fonts/font2.fntdata"/><Relationship Id="rId11" Type="http://schemas.openxmlformats.org/officeDocument/2006/relationships/font" Target="fonts/font3.fnt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810468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Six work packages. Note that backend is broken down by delivered phase rather than by component — that is what makes the cost of each new object type visible.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Milestones at weeks 3, 8 and 11. The critical path is the first vertical slice; everything after it runs in parallel because the shared data shape was fixed before any provider was written.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R1 is the one to dwell on: the architecture was designed so that a feed disappearing costs one module, and when it happened that is exactly what it cost. The full register, including the schedule risk that was also realised, is section 4.6 of the report.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Five external feeds, three internal layers. The single most important property: upstream failure is contained at layer 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The honest cost: Orbital cannot answer a question about last Tuesday. Entitlement windows are bounded by what is still in memory, not by a query.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Seven concrete providers, one abstraction. The API never holds a Provider, so there is no call path from a request to a socket.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The status bar states that 2,000 of 13,607 objects in view are drawn, how old the data is, and which feed answered. A tracker that showed a sample as though it were everything would be easier to build and would be lying.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hyperlink" Target="https://gamma.app/?utm_source=made-with-gamma" TargetMode="Externa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30303">
              <a:alpha val="7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7.svg"/><Relationship Id="rId4" Type="http://schemas.openxmlformats.org/officeDocument/2006/relationships/image" Target="../media/image8.sv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61475" y="1883767"/>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Orbital</a:t>
            </a:r>
            <a:endParaRPr lang="en-US" sz="3700" dirty="0"/>
          </a:p>
        </p:txBody>
      </p:sp>
      <p:sp>
        <p:nvSpPr>
          <p:cNvPr id="3" name="Text 1"/>
          <p:cNvSpPr/>
          <p:nvPr/>
        </p:nvSpPr>
        <p:spPr>
          <a:xfrm>
            <a:off x="661476" y="2757884"/>
            <a:ext cx="8217830" cy="1630363"/>
          </a:xfrm>
          <a:prstGeom prst="rect">
            <a:avLst/>
          </a:prstGeom>
          <a:noFill/>
          <a:ln/>
        </p:spPr>
        <p:txBody>
          <a:bodyPr wrap="square" lIns="0" tIns="0" rIns="0" bIns="0" rtlCol="0" anchor="t">
            <a:normAutofit/>
          </a:bodyPr>
          <a:lstStyle/>
          <a:p>
            <a:pPr marL="0" indent="0" algn="l">
              <a:lnSpc>
                <a:spcPct val="104000"/>
              </a:lnSpc>
              <a:buNone/>
            </a:pPr>
            <a:r>
              <a:rPr lang="en-US" sz="5100" dirty="0">
                <a:solidFill>
                  <a:srgbClr val="FFFFFF"/>
                </a:solidFill>
                <a:latin typeface="Saira Medium" pitchFamily="34" charset="0"/>
                <a:ea typeface="Saira Medium" pitchFamily="34" charset="-122"/>
                <a:cs typeface="Saira Medium" pitchFamily="34" charset="-120"/>
              </a:rPr>
              <a:t>Live Aircraft, Ship &amp; Satellite Tracking</a:t>
            </a:r>
            <a:endParaRPr lang="en-US" sz="5100" dirty="0"/>
          </a:p>
        </p:txBody>
      </p:sp>
      <p:sp>
        <p:nvSpPr>
          <p:cNvPr id="4" name="Text 2"/>
          <p:cNvSpPr/>
          <p:nvPr/>
        </p:nvSpPr>
        <p:spPr>
          <a:xfrm>
            <a:off x="661475" y="4671715"/>
            <a:ext cx="11478330"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CSC480 · Team Orbital ·  </a:t>
            </a:r>
            <a:endParaRPr lang="en-US" sz="1450" dirty="0"/>
          </a:p>
        </p:txBody>
      </p:sp>
      <p:pic>
        <p:nvPicPr>
          <p:cNvPr id="6" name="Picture 5">
            <a:extLst>
              <a:ext uri="{FF2B5EF4-FFF2-40B4-BE49-F238E27FC236}">
                <a16:creationId xmlns:a16="http://schemas.microsoft.com/office/drawing/2014/main" id="{7A2EE799-85C7-0572-20B4-B7329CD80F0F}"/>
              </a:ext>
            </a:extLst>
          </p:cNvPr>
          <p:cNvPicPr>
            <a:picLocks noChangeAspect="1"/>
          </p:cNvPicPr>
          <p:nvPr/>
        </p:nvPicPr>
        <p:blipFill>
          <a:blip r:embed="rId3"/>
          <a:stretch>
            <a:fillRect/>
          </a:stretch>
        </p:blipFill>
        <p:spPr>
          <a:xfrm>
            <a:off x="11027256" y="6531519"/>
            <a:ext cx="1164744" cy="326481"/>
          </a:xfrm>
          <a:prstGeom prst="rect">
            <a:avLst/>
          </a:prstGeom>
        </p:spPr>
      </p:pic>
      <p:pic>
        <p:nvPicPr>
          <p:cNvPr id="10" name="Orbital logo"/>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40808" y="1876482"/>
            <a:ext cx="3097652" cy="30976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1427758"/>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The Problem: Fragmented &amp; Closed</a:t>
            </a:r>
            <a:endParaRPr lang="en-US" sz="3700" dirty="0"/>
          </a:p>
        </p:txBody>
      </p:sp>
      <p:sp>
        <p:nvSpPr>
          <p:cNvPr id="3" name="Text 1"/>
          <p:cNvSpPr/>
          <p:nvPr/>
        </p:nvSpPr>
        <p:spPr>
          <a:xfrm>
            <a:off x="661475" y="2396430"/>
            <a:ext cx="10868745"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Live tracking data for aircraft, ships, and satellites </a:t>
            </a:r>
            <a:r>
              <a:rPr lang="en-US" sz="1450" b="1" dirty="0">
                <a:solidFill>
                  <a:srgbClr val="E5E0DF"/>
                </a:solidFill>
                <a:latin typeface="Roboto Bold" pitchFamily="34" charset="0"/>
                <a:ea typeface="Roboto Bold" pitchFamily="34" charset="-122"/>
                <a:cs typeface="Roboto Bold" pitchFamily="34" charset="-120"/>
              </a:rPr>
              <a:t>does exist</a:t>
            </a:r>
            <a:r>
              <a:rPr lang="en-US" sz="1450" dirty="0">
                <a:solidFill>
                  <a:srgbClr val="E5E0DF"/>
                </a:solidFill>
                <a:latin typeface="Roboto" pitchFamily="34" charset="0"/>
                <a:ea typeface="Roboto" pitchFamily="34" charset="-122"/>
                <a:cs typeface="Roboto" pitchFamily="34" charset="-120"/>
              </a:rPr>
              <a:t> — but it's scattered across siloed APIs, raw and unprocessed, metered by strict rate limits, and locked behind commercial paywalls. No free tool shows all three on a single map.</a:t>
            </a:r>
            <a:endParaRPr lang="en-US" sz="1450" dirty="0"/>
          </a:p>
        </p:txBody>
      </p:sp>
      <p:sp>
        <p:nvSpPr>
          <p:cNvPr id="4" name="Shape 2"/>
          <p:cNvSpPr/>
          <p:nvPr/>
        </p:nvSpPr>
        <p:spPr>
          <a:xfrm>
            <a:off x="661475" y="3213894"/>
            <a:ext cx="10868745" cy="2216348"/>
          </a:xfrm>
          <a:prstGeom prst="roundRect">
            <a:avLst>
              <a:gd name="adj" fmla="val 7676"/>
            </a:avLst>
          </a:prstGeom>
          <a:solidFill>
            <a:srgbClr val="030303"/>
          </a:solidFill>
          <a:ln w="19050">
            <a:solidFill>
              <a:srgbClr val="FC8337"/>
            </a:solidFill>
            <a:prstDash val="solid"/>
          </a:ln>
        </p:spPr>
        <p:txBody>
          <a:bodyPr/>
          <a:lstStyle/>
          <a:p>
            <a:endParaRPr lang="en-US"/>
          </a:p>
        </p:txBody>
      </p:sp>
      <p:sp>
        <p:nvSpPr>
          <p:cNvPr id="5" name="Shape 3"/>
          <p:cNvSpPr/>
          <p:nvPr/>
        </p:nvSpPr>
        <p:spPr>
          <a:xfrm>
            <a:off x="680524" y="3232944"/>
            <a:ext cx="5415323" cy="1089124"/>
          </a:xfrm>
          <a:custGeom>
            <a:avLst/>
            <a:gdLst/>
            <a:ahLst/>
            <a:cxnLst/>
            <a:rect l="l" t="t" r="r" b="b"/>
            <a:pathLst>
              <a:path w="5415323" h="1089124">
                <a:moveTo>
                  <a:pt x="141764" y="0"/>
                </a:moveTo>
                <a:lnTo>
                  <a:pt x="5415323" y="0"/>
                </a:lnTo>
                <a:lnTo>
                  <a:pt x="5415323" y="1089124"/>
                </a:lnTo>
                <a:lnTo>
                  <a:pt x="0" y="1089124"/>
                </a:lnTo>
                <a:lnTo>
                  <a:pt x="0" y="141768"/>
                </a:lnTo>
                <a:arcTo wR="141764" hR="141768" stAng="10800000" swAng="5400000"/>
                <a:close/>
              </a:path>
            </a:pathLst>
          </a:custGeom>
          <a:solidFill>
            <a:srgbClr val="030303"/>
          </a:solidFill>
          <a:ln/>
        </p:spPr>
        <p:txBody>
          <a:bodyPr/>
          <a:lstStyle/>
          <a:p>
            <a:endParaRPr lang="en-US"/>
          </a:p>
        </p:txBody>
      </p:sp>
      <p:sp>
        <p:nvSpPr>
          <p:cNvPr id="6" name="Text 4"/>
          <p:cNvSpPr/>
          <p:nvPr/>
        </p:nvSpPr>
        <p:spPr>
          <a:xfrm>
            <a:off x="869531" y="3421955"/>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Fragmented</a:t>
            </a:r>
            <a:endParaRPr lang="en-US" sz="1850" dirty="0"/>
          </a:p>
        </p:txBody>
      </p:sp>
      <p:sp>
        <p:nvSpPr>
          <p:cNvPr id="7" name="Text 5"/>
          <p:cNvSpPr/>
          <p:nvPr/>
        </p:nvSpPr>
        <p:spPr>
          <a:xfrm>
            <a:off x="869531" y="3830638"/>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Data lives in separate, incompatible sources</a:t>
            </a:r>
            <a:endParaRPr lang="en-US" sz="1450" dirty="0"/>
          </a:p>
        </p:txBody>
      </p:sp>
      <p:sp>
        <p:nvSpPr>
          <p:cNvPr id="8" name="Shape 6"/>
          <p:cNvSpPr/>
          <p:nvPr/>
        </p:nvSpPr>
        <p:spPr>
          <a:xfrm>
            <a:off x="6095848" y="3232944"/>
            <a:ext cx="5415323" cy="1089124"/>
          </a:xfrm>
          <a:custGeom>
            <a:avLst/>
            <a:gdLst/>
            <a:ahLst/>
            <a:cxnLst/>
            <a:rect l="l" t="t" r="r" b="b"/>
            <a:pathLst>
              <a:path w="5415323" h="1089124">
                <a:moveTo>
                  <a:pt x="0" y="0"/>
                </a:moveTo>
                <a:lnTo>
                  <a:pt x="5273559" y="0"/>
                </a:lnTo>
                <a:arcTo wR="141764" hR="141768" stAng="16200000" swAng="5400000"/>
                <a:lnTo>
                  <a:pt x="5415323" y="1089124"/>
                </a:lnTo>
                <a:lnTo>
                  <a:pt x="0" y="1089124"/>
                </a:lnTo>
                <a:lnTo>
                  <a:pt x="0" y="0"/>
                </a:lnTo>
                <a:close/>
              </a:path>
            </a:pathLst>
          </a:custGeom>
          <a:solidFill>
            <a:srgbClr val="030303"/>
          </a:solidFill>
          <a:ln/>
        </p:spPr>
        <p:txBody>
          <a:bodyPr/>
          <a:lstStyle/>
          <a:p>
            <a:endParaRPr lang="en-US"/>
          </a:p>
        </p:txBody>
      </p:sp>
      <p:sp>
        <p:nvSpPr>
          <p:cNvPr id="9" name="Shape 7"/>
          <p:cNvSpPr/>
          <p:nvPr/>
        </p:nvSpPr>
        <p:spPr>
          <a:xfrm>
            <a:off x="6095848" y="3232944"/>
            <a:ext cx="25399" cy="1089124"/>
          </a:xfrm>
          <a:prstGeom prst="roundRect">
            <a:avLst>
              <a:gd name="adj" fmla="val 50001"/>
            </a:avLst>
          </a:prstGeom>
          <a:solidFill>
            <a:srgbClr val="E2691D"/>
          </a:solidFill>
          <a:ln/>
        </p:spPr>
        <p:txBody>
          <a:bodyPr/>
          <a:lstStyle/>
          <a:p>
            <a:endParaRPr lang="en-US"/>
          </a:p>
        </p:txBody>
      </p:sp>
      <p:sp>
        <p:nvSpPr>
          <p:cNvPr id="10" name="Text 8"/>
          <p:cNvSpPr/>
          <p:nvPr/>
        </p:nvSpPr>
        <p:spPr>
          <a:xfrm>
            <a:off x="6284854" y="3421955"/>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Raw</a:t>
            </a:r>
            <a:endParaRPr lang="en-US" sz="1850" dirty="0"/>
          </a:p>
        </p:txBody>
      </p:sp>
      <p:sp>
        <p:nvSpPr>
          <p:cNvPr id="11" name="Text 9"/>
          <p:cNvSpPr/>
          <p:nvPr/>
        </p:nvSpPr>
        <p:spPr>
          <a:xfrm>
            <a:off x="6284854" y="3830638"/>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Unprocessed, inconsistent formats</a:t>
            </a:r>
            <a:endParaRPr lang="en-US" sz="1450" dirty="0"/>
          </a:p>
        </p:txBody>
      </p:sp>
      <p:sp>
        <p:nvSpPr>
          <p:cNvPr id="12" name="Shape 10"/>
          <p:cNvSpPr/>
          <p:nvPr/>
        </p:nvSpPr>
        <p:spPr>
          <a:xfrm>
            <a:off x="680524" y="4322068"/>
            <a:ext cx="5415323" cy="1089124"/>
          </a:xfrm>
          <a:custGeom>
            <a:avLst/>
            <a:gdLst/>
            <a:ahLst/>
            <a:cxnLst/>
            <a:rect l="l" t="t" r="r" b="b"/>
            <a:pathLst>
              <a:path w="5415323" h="1089124">
                <a:moveTo>
                  <a:pt x="0" y="0"/>
                </a:moveTo>
                <a:lnTo>
                  <a:pt x="5415323" y="0"/>
                </a:lnTo>
                <a:lnTo>
                  <a:pt x="5415323" y="1089124"/>
                </a:lnTo>
                <a:lnTo>
                  <a:pt x="141764" y="1089124"/>
                </a:lnTo>
                <a:arcTo wR="141764" hR="141768" stAng="5400000" swAng="5400000"/>
                <a:lnTo>
                  <a:pt x="0" y="0"/>
                </a:lnTo>
                <a:close/>
              </a:path>
            </a:pathLst>
          </a:custGeom>
          <a:solidFill>
            <a:srgbClr val="030303"/>
          </a:solidFill>
          <a:ln/>
        </p:spPr>
        <p:txBody>
          <a:bodyPr/>
          <a:lstStyle/>
          <a:p>
            <a:endParaRPr lang="en-US"/>
          </a:p>
        </p:txBody>
      </p:sp>
      <p:sp>
        <p:nvSpPr>
          <p:cNvPr id="13" name="Shape 11"/>
          <p:cNvSpPr/>
          <p:nvPr/>
        </p:nvSpPr>
        <p:spPr>
          <a:xfrm>
            <a:off x="680524" y="4322068"/>
            <a:ext cx="5415323" cy="25400"/>
          </a:xfrm>
          <a:prstGeom prst="roundRect">
            <a:avLst>
              <a:gd name="adj" fmla="val 49999"/>
            </a:avLst>
          </a:prstGeom>
          <a:solidFill>
            <a:srgbClr val="E2691D"/>
          </a:solidFill>
          <a:ln/>
        </p:spPr>
        <p:txBody>
          <a:bodyPr/>
          <a:lstStyle/>
          <a:p>
            <a:endParaRPr lang="en-US"/>
          </a:p>
        </p:txBody>
      </p:sp>
      <p:sp>
        <p:nvSpPr>
          <p:cNvPr id="14" name="Text 12"/>
          <p:cNvSpPr/>
          <p:nvPr/>
        </p:nvSpPr>
        <p:spPr>
          <a:xfrm>
            <a:off x="869531" y="4511080"/>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Metered</a:t>
            </a:r>
            <a:endParaRPr lang="en-US" sz="1850" dirty="0"/>
          </a:p>
        </p:txBody>
      </p:sp>
      <p:sp>
        <p:nvSpPr>
          <p:cNvPr id="15" name="Text 13"/>
          <p:cNvSpPr/>
          <p:nvPr/>
        </p:nvSpPr>
        <p:spPr>
          <a:xfrm>
            <a:off x="869531" y="4919762"/>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Strict rate limits on every API</a:t>
            </a:r>
            <a:endParaRPr lang="en-US" sz="1450" dirty="0"/>
          </a:p>
        </p:txBody>
      </p:sp>
      <p:sp>
        <p:nvSpPr>
          <p:cNvPr id="16" name="Shape 14"/>
          <p:cNvSpPr/>
          <p:nvPr/>
        </p:nvSpPr>
        <p:spPr>
          <a:xfrm>
            <a:off x="6095848" y="4322068"/>
            <a:ext cx="5415323" cy="1089124"/>
          </a:xfrm>
          <a:custGeom>
            <a:avLst/>
            <a:gdLst/>
            <a:ahLst/>
            <a:cxnLst/>
            <a:rect l="l" t="t" r="r" b="b"/>
            <a:pathLst>
              <a:path w="5415323" h="1089124">
                <a:moveTo>
                  <a:pt x="0" y="0"/>
                </a:moveTo>
                <a:lnTo>
                  <a:pt x="5415323" y="0"/>
                </a:lnTo>
                <a:lnTo>
                  <a:pt x="5415323" y="947357"/>
                </a:lnTo>
                <a:arcTo wR="141764" hR="141768" stAng="0" swAng="5400000"/>
                <a:lnTo>
                  <a:pt x="0" y="1089124"/>
                </a:lnTo>
                <a:lnTo>
                  <a:pt x="0" y="0"/>
                </a:lnTo>
                <a:close/>
              </a:path>
            </a:pathLst>
          </a:custGeom>
          <a:solidFill>
            <a:srgbClr val="030303"/>
          </a:solidFill>
          <a:ln/>
        </p:spPr>
        <p:txBody>
          <a:bodyPr/>
          <a:lstStyle/>
          <a:p>
            <a:endParaRPr lang="en-US"/>
          </a:p>
        </p:txBody>
      </p:sp>
      <p:sp>
        <p:nvSpPr>
          <p:cNvPr id="17" name="Shape 15"/>
          <p:cNvSpPr/>
          <p:nvPr/>
        </p:nvSpPr>
        <p:spPr>
          <a:xfrm>
            <a:off x="6095848" y="4322068"/>
            <a:ext cx="25399" cy="1089124"/>
          </a:xfrm>
          <a:prstGeom prst="roundRect">
            <a:avLst>
              <a:gd name="adj" fmla="val 50001"/>
            </a:avLst>
          </a:prstGeom>
          <a:solidFill>
            <a:srgbClr val="E2691D"/>
          </a:solidFill>
          <a:ln/>
        </p:spPr>
        <p:txBody>
          <a:bodyPr/>
          <a:lstStyle/>
          <a:p>
            <a:endParaRPr lang="en-US"/>
          </a:p>
        </p:txBody>
      </p:sp>
      <p:sp>
        <p:nvSpPr>
          <p:cNvPr id="18" name="Shape 16"/>
          <p:cNvSpPr/>
          <p:nvPr/>
        </p:nvSpPr>
        <p:spPr>
          <a:xfrm>
            <a:off x="6095848" y="4322068"/>
            <a:ext cx="5415323" cy="25400"/>
          </a:xfrm>
          <a:prstGeom prst="roundRect">
            <a:avLst>
              <a:gd name="adj" fmla="val 49999"/>
            </a:avLst>
          </a:prstGeom>
          <a:solidFill>
            <a:srgbClr val="E2691D"/>
          </a:solidFill>
          <a:ln/>
        </p:spPr>
        <p:txBody>
          <a:bodyPr/>
          <a:lstStyle/>
          <a:p>
            <a:endParaRPr lang="en-US"/>
          </a:p>
        </p:txBody>
      </p:sp>
      <p:sp>
        <p:nvSpPr>
          <p:cNvPr id="19" name="Text 17"/>
          <p:cNvSpPr/>
          <p:nvPr/>
        </p:nvSpPr>
        <p:spPr>
          <a:xfrm>
            <a:off x="6284854" y="4511080"/>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Closed</a:t>
            </a:r>
            <a:endParaRPr lang="en-US" sz="1850" dirty="0"/>
          </a:p>
        </p:txBody>
      </p:sp>
      <p:sp>
        <p:nvSpPr>
          <p:cNvPr id="20" name="Text 18"/>
          <p:cNvSpPr/>
          <p:nvPr/>
        </p:nvSpPr>
        <p:spPr>
          <a:xfrm>
            <a:off x="6284854" y="4919762"/>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Commercial gatekeeping blocks free access</a:t>
            </a:r>
            <a:endParaRPr lang="en-US" sz="1450" dirty="0"/>
          </a:p>
        </p:txBody>
      </p:sp>
      <p:pic>
        <p:nvPicPr>
          <p:cNvPr id="21" name="Picture 20">
            <a:extLst>
              <a:ext uri="{FF2B5EF4-FFF2-40B4-BE49-F238E27FC236}">
                <a16:creationId xmlns:a16="http://schemas.microsoft.com/office/drawing/2014/main" id="{7D5A6A5B-50E0-9431-83F8-9475F69D9123}"/>
              </a:ext>
            </a:extLst>
          </p:cNvPr>
          <p:cNvPicPr>
            <a:picLocks noChangeAspect="1"/>
          </p:cNvPicPr>
          <p:nvPr/>
        </p:nvPicPr>
        <p:blipFill>
          <a:blip r:embed="rId3"/>
          <a:stretch>
            <a:fillRect/>
          </a:stretch>
        </p:blipFill>
        <p:spPr>
          <a:xfrm>
            <a:off x="11027256" y="6531519"/>
            <a:ext cx="1164744" cy="32648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542032"/>
            <a:ext cx="10868745" cy="535285"/>
          </a:xfrm>
          <a:prstGeom prst="rect">
            <a:avLst/>
          </a:prstGeom>
          <a:noFill/>
          <a:ln/>
        </p:spPr>
        <p:txBody>
          <a:bodyPr wrap="none" lIns="0" tIns="0" rIns="0" bIns="0" rtlCol="0" anchor="t"/>
          <a:lstStyle/>
          <a:p>
            <a:pPr marL="0" indent="0" algn="l">
              <a:lnSpc>
                <a:spcPct val="104000"/>
              </a:lnSpc>
              <a:buNone/>
            </a:pPr>
            <a:r>
              <a:rPr lang="en-US" sz="3350" dirty="0">
                <a:solidFill>
                  <a:srgbClr val="FFFFFF"/>
                </a:solidFill>
                <a:latin typeface="Saira Medium" pitchFamily="34" charset="0"/>
                <a:ea typeface="Saira Medium" pitchFamily="34" charset="-122"/>
                <a:cs typeface="Saira Medium" pitchFamily="34" charset="-120"/>
              </a:rPr>
              <a:t>Architecture &amp; Methodology </a:t>
            </a:r>
            <a:endParaRPr lang="en-US" sz="3350" dirty="0"/>
          </a:p>
        </p:txBody>
      </p:sp>
      <p:sp>
        <p:nvSpPr>
          <p:cNvPr id="3" name="Text 1"/>
          <p:cNvSpPr/>
          <p:nvPr/>
        </p:nvSpPr>
        <p:spPr>
          <a:xfrm>
            <a:off x="661475" y="1387773"/>
            <a:ext cx="10868745" cy="522486"/>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E5E0DF"/>
                </a:solidFill>
                <a:latin typeface="Roboto" pitchFamily="34" charset="0"/>
                <a:ea typeface="Roboto" pitchFamily="34" charset="-122"/>
                <a:cs typeface="Roboto" pitchFamily="34" charset="-120"/>
              </a:rPr>
              <a:t>Orbital is built on a </a:t>
            </a:r>
            <a:r>
              <a:rPr lang="en-US" sz="1300" b="1" dirty="0">
                <a:solidFill>
                  <a:srgbClr val="E5E0DF"/>
                </a:solidFill>
                <a:latin typeface="Roboto Bold" pitchFamily="34" charset="0"/>
                <a:ea typeface="Roboto Bold" pitchFamily="34" charset="-122"/>
                <a:cs typeface="Roboto Bold" pitchFamily="34" charset="-120"/>
              </a:rPr>
              <a:t>strictly </a:t>
            </a:r>
            <a:r>
              <a:rPr lang="en-US" sz="1400" b="1" dirty="0">
                <a:solidFill>
                  <a:srgbClr val="E5E0DF"/>
                </a:solidFill>
                <a:latin typeface="Roboto Bold" pitchFamily="34" charset="0"/>
                <a:ea typeface="Roboto Bold" pitchFamily="34" charset="-122"/>
                <a:cs typeface="Roboto Bold" pitchFamily="34" charset="-120"/>
              </a:rPr>
              <a:t>one-directional pipeline </a:t>
            </a:r>
            <a:r>
              <a:rPr lang="en-US" sz="1300" dirty="0">
                <a:solidFill>
                  <a:srgbClr val="E5E0DF"/>
                </a:solidFill>
                <a:latin typeface="Roboto" pitchFamily="34" charset="0"/>
                <a:ea typeface="Roboto" pitchFamily="34" charset="-122"/>
                <a:cs typeface="Roboto" pitchFamily="34" charset="-120"/>
              </a:rPr>
              <a:t>also known as </a:t>
            </a:r>
            <a:r>
              <a:rPr lang="en-US" sz="1400" b="1" dirty="0">
                <a:solidFill>
                  <a:srgbClr val="E5E0DF"/>
                </a:solidFill>
                <a:latin typeface="Roboto Bold" pitchFamily="34" charset="0"/>
                <a:ea typeface="Roboto Bold" pitchFamily="34" charset="-122"/>
                <a:cs typeface="Roboto Bold" pitchFamily="34" charset="-120"/>
              </a:rPr>
              <a:t>Incremental Development</a:t>
            </a:r>
            <a:r>
              <a:rPr lang="en-US" sz="1300" dirty="0">
                <a:solidFill>
                  <a:srgbClr val="E5E0DF"/>
                </a:solidFill>
                <a:latin typeface="Roboto" pitchFamily="34" charset="0"/>
                <a:ea typeface="Roboto" pitchFamily="34" charset="-122"/>
                <a:cs typeface="Roboto" pitchFamily="34" charset="-120"/>
              </a:rPr>
              <a:t>: data flows Ingestion → API → Frontend. Each layer has a single responsibility, and the frontend never touches a raw external source.</a:t>
            </a:r>
            <a:endParaRPr lang="en-US" sz="1300" dirty="0"/>
          </a:p>
        </p:txBody>
      </p:sp>
      <p:pic>
        <p:nvPicPr>
          <p:cNvPr id="4" name="Image 0" descr="preencoded.png"/>
          <p:cNvPicPr>
            <a:picLocks noChangeAspect="1"/>
          </p:cNvPicPr>
          <p:nvPr/>
        </p:nvPicPr>
        <p:blipFill>
          <a:blip r:embed="rId3"/>
          <a:stretch>
            <a:fillRect/>
          </a:stretch>
        </p:blipFill>
        <p:spPr>
          <a:xfrm>
            <a:off x="1375325" y="2076901"/>
            <a:ext cx="7848886" cy="3533874"/>
          </a:xfrm>
          <a:prstGeom prst="rect">
            <a:avLst/>
          </a:prstGeom>
        </p:spPr>
      </p:pic>
      <p:sp>
        <p:nvSpPr>
          <p:cNvPr id="5" name="Text 2"/>
          <p:cNvSpPr/>
          <p:nvPr/>
        </p:nvSpPr>
        <p:spPr>
          <a:xfrm>
            <a:off x="1931494" y="4756139"/>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Frontend</a:t>
            </a:r>
            <a:endParaRPr lang="en-US" sz="1900" dirty="0"/>
          </a:p>
        </p:txBody>
      </p:sp>
      <p:sp>
        <p:nvSpPr>
          <p:cNvPr id="6" name="Text 3"/>
          <p:cNvSpPr/>
          <p:nvPr/>
        </p:nvSpPr>
        <p:spPr>
          <a:xfrm>
            <a:off x="1931494" y="3690995"/>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API</a:t>
            </a:r>
            <a:endParaRPr lang="en-US" sz="1900" dirty="0"/>
          </a:p>
        </p:txBody>
      </p:sp>
      <p:sp>
        <p:nvSpPr>
          <p:cNvPr id="7" name="Text 4"/>
          <p:cNvSpPr/>
          <p:nvPr/>
        </p:nvSpPr>
        <p:spPr>
          <a:xfrm>
            <a:off x="1931494" y="2614981"/>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Ingestion</a:t>
            </a:r>
            <a:endParaRPr lang="en-US" sz="1900" dirty="0"/>
          </a:p>
        </p:txBody>
      </p:sp>
      <p:sp>
        <p:nvSpPr>
          <p:cNvPr id="8" name="Text 5"/>
          <p:cNvSpPr/>
          <p:nvPr/>
        </p:nvSpPr>
        <p:spPr>
          <a:xfrm>
            <a:off x="661475" y="5793383"/>
            <a:ext cx="10868745" cy="522486"/>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E5E0DF"/>
                </a:solidFill>
                <a:latin typeface="Roboto" pitchFamily="34" charset="0"/>
                <a:ea typeface="Roboto" pitchFamily="34" charset="-122"/>
                <a:cs typeface="Roboto" pitchFamily="34" charset="-120"/>
              </a:rPr>
              <a:t>A </a:t>
            </a:r>
            <a:r>
              <a:rPr lang="en-US" sz="1300" b="1" dirty="0">
                <a:solidFill>
                  <a:srgbClr val="E5E0DF"/>
                </a:solidFill>
                <a:latin typeface="Roboto Bold" pitchFamily="34" charset="0"/>
                <a:ea typeface="Roboto Bold" pitchFamily="34" charset="-122"/>
                <a:cs typeface="Roboto Bold" pitchFamily="34" charset="-120"/>
              </a:rPr>
              <a:t>single shared data shape</a:t>
            </a:r>
            <a:r>
              <a:rPr lang="en-US" sz="1300" dirty="0">
                <a:solidFill>
                  <a:srgbClr val="E5E0DF"/>
                </a:solidFill>
                <a:latin typeface="Roboto" pitchFamily="34" charset="0"/>
                <a:ea typeface="Roboto" pitchFamily="34" charset="-122"/>
                <a:cs typeface="Roboto" pitchFamily="34" charset="-120"/>
              </a:rPr>
              <a:t> unifies aircraft, satellites, and ships — so adding a new object type costs one ingestion module and zero frontend changes.</a:t>
            </a:r>
            <a:endParaRPr lang="en-US" sz="1300" dirty="0"/>
          </a:p>
        </p:txBody>
      </p:sp>
      <p:pic>
        <p:nvPicPr>
          <p:cNvPr id="9" name="Picture 8">
            <a:extLst>
              <a:ext uri="{FF2B5EF4-FFF2-40B4-BE49-F238E27FC236}">
                <a16:creationId xmlns:a16="http://schemas.microsoft.com/office/drawing/2014/main" id="{732E7193-AF3A-F9C2-2A63-C27201328E3E}"/>
              </a:ext>
            </a:extLst>
          </p:cNvPr>
          <p:cNvPicPr>
            <a:picLocks noChangeAspect="1"/>
          </p:cNvPicPr>
          <p:nvPr/>
        </p:nvPicPr>
        <p:blipFill>
          <a:blip r:embed="rId4"/>
          <a:stretch>
            <a:fillRect/>
          </a:stretch>
        </p:blipFill>
        <p:spPr>
          <a:xfrm>
            <a:off x="11027256" y="6531519"/>
            <a:ext cx="1164744" cy="32648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694630"/>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Feasibility &amp; Performance</a:t>
            </a:r>
            <a:endParaRPr lang="en-US" sz="3700" dirty="0"/>
          </a:p>
        </p:txBody>
      </p:sp>
      <p:sp>
        <p:nvSpPr>
          <p:cNvPr id="3" name="Text 1"/>
          <p:cNvSpPr/>
          <p:nvPr/>
        </p:nvSpPr>
        <p:spPr>
          <a:xfrm>
            <a:off x="661475" y="1757759"/>
            <a:ext cx="3504219" cy="295275"/>
          </a:xfrm>
          <a:prstGeom prst="rect">
            <a:avLst/>
          </a:prstGeom>
          <a:noFill/>
          <a:ln/>
        </p:spPr>
        <p:txBody>
          <a:bodyPr wrap="none" lIns="0" tIns="0" rIns="0" bIns="0" rtlCol="0" anchor="t"/>
          <a:lstStyle/>
          <a:p>
            <a:pPr marL="0" indent="0" algn="l">
              <a:lnSpc>
                <a:spcPct val="104000"/>
              </a:lnSpc>
              <a:buNone/>
            </a:pPr>
            <a:r>
              <a:rPr lang="en-US" sz="1850" dirty="0">
                <a:solidFill>
                  <a:srgbClr val="FFFFFF"/>
                </a:solidFill>
                <a:latin typeface="Saira Medium" pitchFamily="34" charset="0"/>
                <a:ea typeface="Saira Medium" pitchFamily="34" charset="-122"/>
                <a:cs typeface="Saira Medium" pitchFamily="34" charset="-120"/>
              </a:rPr>
              <a:t>Live Data at Scale</a:t>
            </a:r>
            <a:endParaRPr lang="en-US" sz="1850" dirty="0"/>
          </a:p>
        </p:txBody>
      </p:sp>
      <p:sp>
        <p:nvSpPr>
          <p:cNvPr id="4" name="Text 2"/>
          <p:cNvSpPr/>
          <p:nvPr/>
        </p:nvSpPr>
        <p:spPr>
          <a:xfrm>
            <a:off x="661475" y="2242046"/>
            <a:ext cx="3504219"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Orbital is built entirely on </a:t>
            </a:r>
            <a:r>
              <a:rPr lang="en-US" sz="1450" b="1" dirty="0">
                <a:solidFill>
                  <a:srgbClr val="E5E0DF"/>
                </a:solidFill>
                <a:latin typeface="Roboto Bold" pitchFamily="34" charset="0"/>
                <a:ea typeface="Roboto Bold" pitchFamily="34" charset="-122"/>
                <a:cs typeface="Roboto Bold" pitchFamily="34" charset="-120"/>
              </a:rPr>
              <a:t>free, publicly available data sources</a:t>
            </a:r>
            <a:r>
              <a:rPr lang="en-US" sz="1450" dirty="0">
                <a:solidFill>
                  <a:srgbClr val="E5E0DF"/>
                </a:solidFill>
                <a:latin typeface="Roboto" pitchFamily="34" charset="0"/>
                <a:ea typeface="Roboto" pitchFamily="34" charset="-122"/>
                <a:cs typeface="Roboto" pitchFamily="34" charset="-120"/>
              </a:rPr>
              <a:t>. The technical challenge is manageable — the real constraint is rate limiting, not data availability.</a:t>
            </a:r>
            <a:endParaRPr lang="en-US" sz="1450" dirty="0"/>
          </a:p>
        </p:txBody>
      </p:sp>
      <p:sp>
        <p:nvSpPr>
          <p:cNvPr id="5" name="Shape 3"/>
          <p:cNvSpPr/>
          <p:nvPr/>
        </p:nvSpPr>
        <p:spPr>
          <a:xfrm>
            <a:off x="661475" y="4013994"/>
            <a:ext cx="3504219" cy="25400"/>
          </a:xfrm>
          <a:prstGeom prst="roundRect">
            <a:avLst>
              <a:gd name="adj" fmla="val 49999"/>
            </a:avLst>
          </a:prstGeom>
          <a:solidFill>
            <a:srgbClr val="E5E0DF">
              <a:alpha val="50000"/>
            </a:srgbClr>
          </a:solidFill>
          <a:ln/>
        </p:spPr>
        <p:txBody>
          <a:bodyPr/>
          <a:lstStyle/>
          <a:p>
            <a:endParaRPr lang="en-US"/>
          </a:p>
        </p:txBody>
      </p:sp>
      <p:sp>
        <p:nvSpPr>
          <p:cNvPr id="6" name="Text 4"/>
          <p:cNvSpPr/>
          <p:nvPr/>
        </p:nvSpPr>
        <p:spPr>
          <a:xfrm>
            <a:off x="661475" y="4299248"/>
            <a:ext cx="3504219" cy="295275"/>
          </a:xfrm>
          <a:prstGeom prst="rect">
            <a:avLst/>
          </a:prstGeom>
          <a:noFill/>
          <a:ln/>
        </p:spPr>
        <p:txBody>
          <a:bodyPr wrap="none" lIns="0" tIns="0" rIns="0" bIns="0" rtlCol="0" anchor="t"/>
          <a:lstStyle/>
          <a:p>
            <a:pPr marL="0" indent="0" algn="l">
              <a:lnSpc>
                <a:spcPct val="104000"/>
              </a:lnSpc>
              <a:buNone/>
            </a:pPr>
            <a:r>
              <a:rPr lang="en-US" sz="1850" dirty="0">
                <a:solidFill>
                  <a:srgbClr val="FFFFFF"/>
                </a:solidFill>
                <a:latin typeface="Saira Medium" pitchFamily="34" charset="0"/>
                <a:ea typeface="Saira Medium" pitchFamily="34" charset="-122"/>
                <a:cs typeface="Saira Medium" pitchFamily="34" charset="-120"/>
              </a:rPr>
              <a:t>Rendering Targets</a:t>
            </a:r>
            <a:endParaRPr lang="en-US" sz="1850" dirty="0"/>
          </a:p>
        </p:txBody>
      </p:sp>
      <p:sp>
        <p:nvSpPr>
          <p:cNvPr id="7" name="Text 5"/>
          <p:cNvSpPr/>
          <p:nvPr/>
        </p:nvSpPr>
        <p:spPr>
          <a:xfrm>
            <a:off x="661475" y="4783534"/>
            <a:ext cx="3504219"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Both API response times and frontend rendering performance sit </a:t>
            </a:r>
            <a:r>
              <a:rPr lang="en-US" sz="1450" b="1" dirty="0">
                <a:solidFill>
                  <a:srgbClr val="E5E0DF"/>
                </a:solidFill>
                <a:latin typeface="Roboto Bold" pitchFamily="34" charset="0"/>
                <a:ea typeface="Roboto Bold" pitchFamily="34" charset="-122"/>
                <a:cs typeface="Roboto Bold" pitchFamily="34" charset="-120"/>
              </a:rPr>
              <a:t>comfortably inside target thresholds</a:t>
            </a:r>
            <a:r>
              <a:rPr lang="en-US" sz="1450" dirty="0">
                <a:solidFill>
                  <a:srgbClr val="E5E0DF"/>
                </a:solidFill>
                <a:latin typeface="Roboto" pitchFamily="34" charset="0"/>
                <a:ea typeface="Roboto" pitchFamily="34" charset="-122"/>
                <a:cs typeface="Roboto" pitchFamily="34" charset="-120"/>
              </a:rPr>
              <a:t>, even under full load with all three object types active.</a:t>
            </a:r>
            <a:endParaRPr lang="en-US" sz="1450" dirty="0"/>
          </a:p>
        </p:txBody>
      </p:sp>
      <p:pic>
        <p:nvPicPr>
          <p:cNvPr id="8" name="Picture 7">
            <a:extLst>
              <a:ext uri="{FF2B5EF4-FFF2-40B4-BE49-F238E27FC236}">
                <a16:creationId xmlns:a16="http://schemas.microsoft.com/office/drawing/2014/main" id="{60EF3A9E-7DEE-CCFC-2D8B-1470EBD639F2}"/>
              </a:ext>
            </a:extLst>
          </p:cNvPr>
          <p:cNvPicPr>
            <a:picLocks noChangeAspect="1"/>
          </p:cNvPicPr>
          <p:nvPr/>
        </p:nvPicPr>
        <p:blipFill>
          <a:blip r:embed="rId3"/>
          <a:stretch>
            <a:fillRect/>
          </a:stretch>
        </p:blipFill>
        <p:spPr>
          <a:xfrm>
            <a:off x="11027256" y="6531519"/>
            <a:ext cx="1164744" cy="326481"/>
          </a:xfrm>
          <a:prstGeom prst="rect">
            <a:avLst/>
          </a:prstGeom>
        </p:spPr>
      </p:pic>
      <p:pic>
        <p:nvPicPr>
          <p:cNvPr id="9" name="Picture 8" descr="2-1-backend-cost-per-stage.png"/>
          <p:cNvPicPr>
            <a:picLocks noChangeAspect="1"/>
          </p:cNvPicPr>
          <p:nvPr/>
        </p:nvPicPr>
        <p:blipFill>
          <a:blip r:embed="rId5"/>
          <a:stretch>
            <a:fillRect/>
          </a:stretch>
        </p:blipFill>
        <p:spPr>
          <a:xfrm>
            <a:off x="4800000" y="2049460"/>
            <a:ext cx="6600000" cy="392107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1BE4933A-DFD9-19B7-E889-B881A99597E8}"/>
              </a:ext>
            </a:extLst>
          </p:cNvPr>
          <p:cNvSpPr/>
          <p:nvPr/>
        </p:nvSpPr>
        <p:spPr>
          <a:xfrm>
            <a:off x="6282379" y="1844878"/>
            <a:ext cx="5630627" cy="3650380"/>
          </a:xfrm>
          <a:prstGeom prst="roundRect">
            <a:avLst>
              <a:gd name="adj" fmla="val 6837"/>
            </a:avLst>
          </a:prstGeom>
          <a:solidFill>
            <a:schemeClr val="bg1"/>
          </a:solidFill>
          <a:ln w="19050">
            <a:solidFill>
              <a:srgbClr val="FC8337"/>
            </a:solidFill>
            <a:prstDash val="solid"/>
          </a:ln>
        </p:spPr>
        <p:txBody>
          <a:bodyPr/>
          <a:lstStyle/>
          <a:p>
            <a:endParaRPr lang="en-US"/>
          </a:p>
        </p:txBody>
      </p:sp>
      <p:sp>
        <p:nvSpPr>
          <p:cNvPr id="2" name="Text 0"/>
          <p:cNvSpPr/>
          <p:nvPr/>
        </p:nvSpPr>
        <p:spPr>
          <a:xfrm>
            <a:off x="661627" y="471258"/>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Reliability &amp; Use case </a:t>
            </a:r>
            <a:endParaRPr lang="en-US" sz="3700" dirty="0"/>
          </a:p>
        </p:txBody>
      </p:sp>
      <p:sp>
        <p:nvSpPr>
          <p:cNvPr id="3" name="Text 1"/>
          <p:cNvSpPr/>
          <p:nvPr/>
        </p:nvSpPr>
        <p:spPr>
          <a:xfrm>
            <a:off x="661627" y="1061908"/>
            <a:ext cx="5899746" cy="680442"/>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Upstream failure is expected, not exceptional. Orbital handles it</a:t>
            </a:r>
          </a:p>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 at every layer so the user never sees a blank screen.</a:t>
            </a:r>
            <a:endParaRPr lang="en-US" sz="1450" dirty="0"/>
          </a:p>
        </p:txBody>
      </p:sp>
      <p:sp>
        <p:nvSpPr>
          <p:cNvPr id="4" name="Shape 2"/>
          <p:cNvSpPr/>
          <p:nvPr/>
        </p:nvSpPr>
        <p:spPr>
          <a:xfrm>
            <a:off x="560278" y="2040555"/>
            <a:ext cx="2497675" cy="3145182"/>
          </a:xfrm>
          <a:prstGeom prst="roundRect">
            <a:avLst>
              <a:gd name="adj" fmla="val 6837"/>
            </a:avLst>
          </a:prstGeom>
          <a:solidFill>
            <a:srgbClr val="030303"/>
          </a:solidFill>
          <a:ln w="19050">
            <a:solidFill>
              <a:srgbClr val="FC8337"/>
            </a:solidFill>
            <a:prstDash val="solid"/>
          </a:ln>
        </p:spPr>
        <p:txBody>
          <a:bodyPr/>
          <a:lstStyle/>
          <a:p>
            <a:endParaRPr lang="en-US"/>
          </a:p>
        </p:txBody>
      </p:sp>
      <p:sp>
        <p:nvSpPr>
          <p:cNvPr id="5" name="Shape 3"/>
          <p:cNvSpPr/>
          <p:nvPr/>
        </p:nvSpPr>
        <p:spPr>
          <a:xfrm>
            <a:off x="740465" y="2236585"/>
            <a:ext cx="534152" cy="519494"/>
          </a:xfrm>
          <a:prstGeom prst="ellipse">
            <a:avLst/>
          </a:prstGeom>
          <a:solidFill>
            <a:srgbClr val="FC8337"/>
          </a:solidFill>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6317" y="2333648"/>
            <a:ext cx="322449" cy="322457"/>
          </a:xfrm>
          <a:prstGeom prst="rect">
            <a:avLst/>
          </a:prstGeom>
        </p:spPr>
      </p:pic>
      <p:sp>
        <p:nvSpPr>
          <p:cNvPr id="7" name="Text 4"/>
          <p:cNvSpPr/>
          <p:nvPr/>
        </p:nvSpPr>
        <p:spPr>
          <a:xfrm>
            <a:off x="768334" y="3004663"/>
            <a:ext cx="2289619" cy="373253"/>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Stale-but-Flagged</a:t>
            </a:r>
            <a:endParaRPr lang="en-US" sz="1850" dirty="0"/>
          </a:p>
        </p:txBody>
      </p:sp>
      <p:sp>
        <p:nvSpPr>
          <p:cNvPr id="8" name="Text 5"/>
          <p:cNvSpPr/>
          <p:nvPr/>
        </p:nvSpPr>
        <p:spPr>
          <a:xfrm>
            <a:off x="768334" y="3413344"/>
            <a:ext cx="2289619" cy="1146849"/>
          </a:xfrm>
          <a:prstGeom prst="rect">
            <a:avLst/>
          </a:prstGeom>
          <a:noFill/>
          <a:ln/>
        </p:spPr>
        <p:txBody>
          <a:bodyPr wrap="square" lIns="0" tIns="0" rIns="0" bIns="0" rtlCol="0" anchor="t">
            <a:normAutofit lnSpcReduction="10000"/>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When a source goes dark, last-known data is served with a visible freshness indicator</a:t>
            </a:r>
            <a:endParaRPr lang="en-US" sz="1450" dirty="0"/>
          </a:p>
        </p:txBody>
      </p:sp>
      <p:sp>
        <p:nvSpPr>
          <p:cNvPr id="9" name="Shape 6"/>
          <p:cNvSpPr/>
          <p:nvPr/>
        </p:nvSpPr>
        <p:spPr>
          <a:xfrm>
            <a:off x="3310750" y="2040555"/>
            <a:ext cx="2598873" cy="3145182"/>
          </a:xfrm>
          <a:prstGeom prst="roundRect">
            <a:avLst>
              <a:gd name="adj" fmla="val 6837"/>
            </a:avLst>
          </a:prstGeom>
          <a:solidFill>
            <a:srgbClr val="030303"/>
          </a:solidFill>
          <a:ln w="19050">
            <a:solidFill>
              <a:srgbClr val="FC8337"/>
            </a:solidFill>
            <a:prstDash val="solid"/>
          </a:ln>
        </p:spPr>
        <p:txBody>
          <a:bodyPr/>
          <a:lstStyle/>
          <a:p>
            <a:endParaRPr lang="en-US"/>
          </a:p>
        </p:txBody>
      </p:sp>
      <p:sp>
        <p:nvSpPr>
          <p:cNvPr id="10" name="Shape 7"/>
          <p:cNvSpPr/>
          <p:nvPr/>
        </p:nvSpPr>
        <p:spPr>
          <a:xfrm>
            <a:off x="3546970" y="2296125"/>
            <a:ext cx="578058" cy="539184"/>
          </a:xfrm>
          <a:prstGeom prst="ellipse">
            <a:avLst/>
          </a:prstGeom>
          <a:solidFill>
            <a:srgbClr val="FC8337"/>
          </a:solidFill>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775" y="2404489"/>
            <a:ext cx="322449" cy="322457"/>
          </a:xfrm>
          <a:prstGeom prst="rect">
            <a:avLst/>
          </a:prstGeom>
        </p:spPr>
      </p:pic>
      <p:sp>
        <p:nvSpPr>
          <p:cNvPr id="12" name="Text 8"/>
          <p:cNvSpPr/>
          <p:nvPr/>
        </p:nvSpPr>
        <p:spPr>
          <a:xfrm>
            <a:off x="3518807" y="3004663"/>
            <a:ext cx="2289619" cy="373253"/>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Dual Sources</a:t>
            </a:r>
            <a:endParaRPr lang="en-US" sz="1850" dirty="0"/>
          </a:p>
        </p:txBody>
      </p:sp>
      <p:sp>
        <p:nvSpPr>
          <p:cNvPr id="13" name="Text 9"/>
          <p:cNvSpPr/>
          <p:nvPr/>
        </p:nvSpPr>
        <p:spPr>
          <a:xfrm>
            <a:off x="3518807" y="3413344"/>
            <a:ext cx="2289619" cy="1146849"/>
          </a:xfrm>
          <a:prstGeom prst="rect">
            <a:avLst/>
          </a:prstGeom>
          <a:noFill/>
          <a:ln/>
        </p:spPr>
        <p:txBody>
          <a:bodyPr wrap="square" lIns="0" tIns="0" rIns="0" bIns="0" rtlCol="0" anchor="t">
            <a:normAutofit lnSpcReduction="10000"/>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Critical object types are backed by two independent feeds — one failure is never fatal</a:t>
            </a:r>
            <a:endParaRPr lang="en-US" sz="1450" dirty="0"/>
          </a:p>
        </p:txBody>
      </p:sp>
      <p:pic>
        <p:nvPicPr>
          <p:cNvPr id="24" name="Picture 23">
            <a:extLst>
              <a:ext uri="{FF2B5EF4-FFF2-40B4-BE49-F238E27FC236}">
                <a16:creationId xmlns:a16="http://schemas.microsoft.com/office/drawing/2014/main" id="{D55B9EA1-BD71-D1C6-0A59-4610AEC0C4B2}"/>
              </a:ext>
            </a:extLst>
          </p:cNvPr>
          <p:cNvPicPr>
            <a:picLocks noChangeAspect="1"/>
          </p:cNvPicPr>
          <p:nvPr/>
        </p:nvPicPr>
        <p:blipFill>
          <a:blip r:embed="rId6"/>
          <a:stretch>
            <a:fillRect/>
          </a:stretch>
        </p:blipFill>
        <p:spPr>
          <a:xfrm>
            <a:off x="11027256" y="6531519"/>
            <a:ext cx="1164744" cy="326481"/>
          </a:xfrm>
          <a:prstGeom prst="rect">
            <a:avLst/>
          </a:prstGeom>
        </p:spPr>
      </p:pic>
      <p:pic>
        <p:nvPicPr>
          <p:cNvPr id="25" name="Picture 24" descr="3-1-use-case-diagram-slide.png"/>
          <p:cNvPicPr>
            <a:picLocks noChangeAspect="1"/>
          </p:cNvPicPr>
          <p:nvPr/>
        </p:nvPicPr>
        <p:blipFill>
          <a:blip r:embed="rId7"/>
          <a:stretch>
            <a:fillRect/>
          </a:stretch>
        </p:blipFill>
        <p:spPr>
          <a:xfrm>
            <a:off x="6475272" y="1984248"/>
            <a:ext cx="5246015" cy="337413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420515"/>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What Orbital Delivers</a:t>
            </a:r>
            <a:endParaRPr lang="en-US" sz="3700" dirty="0"/>
          </a:p>
        </p:txBody>
      </p:sp>
      <p:sp>
        <p:nvSpPr>
          <p:cNvPr id="3" name="Shape 1"/>
          <p:cNvSpPr/>
          <p:nvPr/>
        </p:nvSpPr>
        <p:spPr>
          <a:xfrm>
            <a:off x="661475" y="2389187"/>
            <a:ext cx="5339820"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4" name="Text 2"/>
          <p:cNvSpPr/>
          <p:nvPr/>
        </p:nvSpPr>
        <p:spPr>
          <a:xfrm>
            <a:off x="869531" y="2597249"/>
            <a:ext cx="4923707"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One Map</a:t>
            </a:r>
            <a:endParaRPr lang="en-US" sz="1850" dirty="0"/>
          </a:p>
        </p:txBody>
      </p:sp>
      <p:sp>
        <p:nvSpPr>
          <p:cNvPr id="5" name="Text 3"/>
          <p:cNvSpPr/>
          <p:nvPr/>
        </p:nvSpPr>
        <p:spPr>
          <a:xfrm>
            <a:off x="869531" y="3005931"/>
            <a:ext cx="492370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Aircraft, ships, and satellites — unified, free, in a single browser view</a:t>
            </a:r>
            <a:endParaRPr lang="en-US" sz="1450" dirty="0"/>
          </a:p>
        </p:txBody>
      </p:sp>
      <p:sp>
        <p:nvSpPr>
          <p:cNvPr id="6" name="Shape 4"/>
          <p:cNvSpPr/>
          <p:nvPr/>
        </p:nvSpPr>
        <p:spPr>
          <a:xfrm>
            <a:off x="6190301" y="2389187"/>
            <a:ext cx="5339919"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7" name="Text 5"/>
          <p:cNvSpPr/>
          <p:nvPr/>
        </p:nvSpPr>
        <p:spPr>
          <a:xfrm>
            <a:off x="6398358" y="2597249"/>
            <a:ext cx="4923806"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Resilient</a:t>
            </a:r>
            <a:endParaRPr lang="en-US" sz="1850" dirty="0"/>
          </a:p>
        </p:txBody>
      </p:sp>
      <p:sp>
        <p:nvSpPr>
          <p:cNvPr id="8" name="Text 6"/>
          <p:cNvSpPr/>
          <p:nvPr/>
        </p:nvSpPr>
        <p:spPr>
          <a:xfrm>
            <a:off x="6398358" y="3005931"/>
            <a:ext cx="492380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Survives upstream failure with flagged stale data and dual-source fallbacks</a:t>
            </a:r>
            <a:endParaRPr lang="en-US" sz="1450" dirty="0"/>
          </a:p>
        </p:txBody>
      </p:sp>
      <p:sp>
        <p:nvSpPr>
          <p:cNvPr id="9" name="Shape 7"/>
          <p:cNvSpPr/>
          <p:nvPr/>
        </p:nvSpPr>
        <p:spPr>
          <a:xfrm>
            <a:off x="661475" y="4007842"/>
            <a:ext cx="5339820"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10" name="Text 8"/>
          <p:cNvSpPr/>
          <p:nvPr/>
        </p:nvSpPr>
        <p:spPr>
          <a:xfrm>
            <a:off x="869531" y="4215904"/>
            <a:ext cx="4923707"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Extensible</a:t>
            </a:r>
            <a:endParaRPr lang="en-US" sz="1850" dirty="0"/>
          </a:p>
        </p:txBody>
      </p:sp>
      <p:sp>
        <p:nvSpPr>
          <p:cNvPr id="11" name="Text 9"/>
          <p:cNvSpPr/>
          <p:nvPr/>
        </p:nvSpPr>
        <p:spPr>
          <a:xfrm>
            <a:off x="869531" y="4624586"/>
            <a:ext cx="492370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New object types cost one module — the architecture scales without rework</a:t>
            </a:r>
            <a:endParaRPr lang="en-US" sz="1450" dirty="0"/>
          </a:p>
        </p:txBody>
      </p:sp>
      <p:sp>
        <p:nvSpPr>
          <p:cNvPr id="12" name="Shape 10"/>
          <p:cNvSpPr/>
          <p:nvPr/>
        </p:nvSpPr>
        <p:spPr>
          <a:xfrm>
            <a:off x="6190301" y="4007842"/>
            <a:ext cx="5339919"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13" name="Text 11"/>
          <p:cNvSpPr/>
          <p:nvPr/>
        </p:nvSpPr>
        <p:spPr>
          <a:xfrm>
            <a:off x="6398358" y="4215904"/>
            <a:ext cx="4923806"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Performant</a:t>
            </a:r>
            <a:endParaRPr lang="en-US" sz="1850" dirty="0"/>
          </a:p>
        </p:txBody>
      </p:sp>
      <p:sp>
        <p:nvSpPr>
          <p:cNvPr id="14" name="Text 12"/>
          <p:cNvSpPr/>
          <p:nvPr/>
        </p:nvSpPr>
        <p:spPr>
          <a:xfrm>
            <a:off x="6398358" y="4624586"/>
            <a:ext cx="492380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10,000+ aircraft rendered in under 2 seconds, rate-limit budget protected</a:t>
            </a:r>
            <a:endParaRPr lang="en-US" sz="1450" dirty="0"/>
          </a:p>
        </p:txBody>
      </p:sp>
      <p:pic>
        <p:nvPicPr>
          <p:cNvPr id="15" name="Picture 14">
            <a:extLst>
              <a:ext uri="{FF2B5EF4-FFF2-40B4-BE49-F238E27FC236}">
                <a16:creationId xmlns:a16="http://schemas.microsoft.com/office/drawing/2014/main" id="{6569C8CB-EA1D-2CD3-E17F-A81CA207622A}"/>
              </a:ext>
            </a:extLst>
          </p:cNvPr>
          <p:cNvPicPr>
            <a:picLocks noChangeAspect="1"/>
          </p:cNvPicPr>
          <p:nvPr/>
        </p:nvPicPr>
        <p:blipFill>
          <a:blip r:embed="rId3"/>
          <a:stretch>
            <a:fillRect/>
          </a:stretch>
        </p:blipFill>
        <p:spPr>
          <a:xfrm>
            <a:off x="11027256" y="6531519"/>
            <a:ext cx="1164744" cy="32648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Planning: six packages, five people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Seven roles across five members, so most hold two. Work is decomposed to the level where one person owns one deliverable — any deeper and a WBS is a task list that is stale in a week.</a:t>
            </a:r>
          </a:p>
        </p:txBody>
      </p:sp>
      <p:sp>
        <p:nvSpPr>
          <p:cNvPr id="5" name="Rounded Rectangle 4"/>
          <p:cNvSpPr/>
          <p:nvPr/>
        </p:nvSpPr>
        <p:spPr>
          <a:xfrm>
            <a:off x="5438917" y="1783080"/>
            <a:ext cx="4941284"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1-work-breakdown.png"/>
          <p:cNvPicPr>
            <a:picLocks noChangeAspect="1"/>
          </p:cNvPicPr>
          <p:nvPr/>
        </p:nvPicPr>
        <p:blipFill>
          <a:blip r:embed="rId3"/>
          <a:stretch>
            <a:fillRect/>
          </a:stretch>
        </p:blipFill>
        <p:spPr>
          <a:xfrm>
            <a:off x="5548645" y="1892808"/>
            <a:ext cx="4721828"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Phase, not component</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Package 3 is split by delivered phase.</a:t>
            </a:r>
          </a:p>
          <a:p>
            <a:pPr algn="l">
              <a:lnSpc>
                <a:spcPct val="125000"/>
              </a:lnSpc>
            </a:pPr>
            <a:r>
              <a:rPr sz="1200" b="0">
                <a:solidFill>
                  <a:srgbClr val="E5E0DF"/>
                </a:solidFill>
                <a:latin typeface="Roboto"/>
              </a:rPr>
              <a:t>A component split would describe the</a:t>
            </a:r>
          </a:p>
          <a:p>
            <a:pPr algn="l">
              <a:lnSpc>
                <a:spcPct val="125000"/>
              </a:lnSpc>
            </a:pPr>
            <a:r>
              <a:rPr sz="1200" b="0">
                <a:solidFill>
                  <a:srgbClr val="E5E0DF"/>
                </a:solidFill>
                <a:latin typeface="Roboto"/>
              </a:rPr>
              <a:t>architecture, not the work.</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One owner each</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Every 1.x deliverable has a name</a:t>
            </a:r>
          </a:p>
          <a:p>
            <a:pPr algn="l">
              <a:lnSpc>
                <a:spcPct val="125000"/>
              </a:lnSpc>
            </a:pPr>
            <a:r>
              <a:rPr sz="1200" b="0">
                <a:solidFill>
                  <a:srgbClr val="E5E0DF"/>
                </a:solidFill>
                <a:latin typeface="Roboto"/>
              </a:rPr>
              <a:t>against it, not a team.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The plan, and the three milestones</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Twelve weeks. This is the plan the team worked to, not a chart redrawn afterwards to match what happened — keeping those apart is the only reason comparing them is worth anything.</a:t>
            </a:r>
          </a:p>
        </p:txBody>
      </p:sp>
      <p:sp>
        <p:nvSpPr>
          <p:cNvPr id="5" name="Rounded Rectangle 4"/>
          <p:cNvSpPr/>
          <p:nvPr/>
        </p:nvSpPr>
        <p:spPr>
          <a:xfrm>
            <a:off x="5327579" y="1783080"/>
            <a:ext cx="5163961"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2-gantt-chart.png"/>
          <p:cNvPicPr>
            <a:picLocks noChangeAspect="1"/>
          </p:cNvPicPr>
          <p:nvPr/>
        </p:nvPicPr>
        <p:blipFill>
          <a:blip r:embed="rId3"/>
          <a:stretch>
            <a:fillRect/>
          </a:stretch>
        </p:blipFill>
        <p:spPr>
          <a:xfrm>
            <a:off x="5437307" y="1892808"/>
            <a:ext cx="4944505"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The critical path</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Requirements → data contract →</a:t>
            </a:r>
          </a:p>
          <a:p>
            <a:pPr algn="l">
              <a:lnSpc>
                <a:spcPct val="125000"/>
              </a:lnSpc>
            </a:pPr>
            <a:r>
              <a:rPr sz="1200" b="0">
                <a:solidFill>
                  <a:srgbClr val="E5E0DF"/>
                </a:solidFill>
                <a:latin typeface="Roboto"/>
              </a:rPr>
              <a:t>first provider → poller and store</a:t>
            </a:r>
          </a:p>
          <a:p>
            <a:pPr algn="l">
              <a:lnSpc>
                <a:spcPct val="125000"/>
              </a:lnSpc>
            </a:pPr>
            <a:r>
              <a:rPr sz="1200" b="0">
                <a:solidFill>
                  <a:srgbClr val="E5E0DF"/>
                </a:solidFill>
                <a:latin typeface="Roboto"/>
              </a:rPr>
              <a:t>→ API → first layer on screen.</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Then it goes parallel</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Satellites, ships and accounts each</a:t>
            </a:r>
          </a:p>
          <a:p>
            <a:pPr algn="l">
              <a:lnSpc>
                <a:spcPct val="125000"/>
              </a:lnSpc>
            </a:pPr>
            <a:r>
              <a:rPr sz="1200" b="0">
                <a:solidFill>
                  <a:srgbClr val="E5E0DF"/>
                </a:solidFill>
                <a:latin typeface="Roboto"/>
              </a:rPr>
              <a:t>touch a different provider or route.</a:t>
            </a:r>
          </a:p>
          <a:p>
            <a:pPr algn="l">
              <a:lnSpc>
                <a:spcPct val="125000"/>
              </a:lnSpc>
            </a:pPr>
            <a:r>
              <a:rPr sz="1200" b="0">
                <a:solidFill>
                  <a:srgbClr val="E5E0DF"/>
                </a:solidFill>
                <a:latin typeface="Roboto"/>
              </a:rPr>
              <a:t>None blocks another — by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Risks, and what they cost</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Graded by likelihood and impact, each with the mitigation that was actually built. One of them happened.</a:t>
            </a:r>
          </a:p>
        </p:txBody>
      </p:sp>
      <p:sp>
        <p:nvSpPr>
          <p:cNvPr id="5" name="Rounded Rectangle 4"/>
          <p:cNvSpPr/>
          <p:nvPr/>
        </p:nvSpPr>
        <p:spPr>
          <a:xfrm>
            <a:off x="658368" y="1965960"/>
            <a:ext cx="5230368" cy="1938528"/>
          </a:xfrm>
          <a:prstGeom prst="roundRect">
            <a:avLst>
              <a:gd name="adj" fmla="val 3000"/>
            </a:avLst>
          </a:prstGeom>
          <a:solidFill>
            <a:srgbClr val="030303"/>
          </a:solidFill>
          <a:ln w="222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85415"/>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R1  Upstream feed disappears</a:t>
            </a:r>
          </a:p>
        </p:txBody>
      </p:sp>
      <p:sp>
        <p:nvSpPr>
          <p:cNvPr id="7" name="TextBox 6"/>
          <p:cNvSpPr txBox="1"/>
          <p:nvPr/>
        </p:nvSpPr>
        <p:spPr>
          <a:xfrm>
            <a:off x="4636007" y="2221991"/>
            <a:ext cx="1005840" cy="219456"/>
          </a:xfrm>
          <a:prstGeom prst="rect">
            <a:avLst/>
          </a:prstGeom>
          <a:noFill/>
        </p:spPr>
        <p:txBody>
          <a:bodyPr wrap="square" lIns="0" rIns="0" tIns="0" bIns="0">
            <a:spAutoFit/>
          </a:bodyPr>
          <a:lstStyle/>
          <a:p>
            <a:pPr algn="r">
              <a:lnSpc>
                <a:spcPct val="100000"/>
              </a:lnSpc>
            </a:pPr>
            <a:r>
              <a:rPr sz="900" b="0">
                <a:solidFill>
                  <a:srgbClr val="FC8337"/>
                </a:solidFill>
                <a:latin typeface="Saira Medium"/>
              </a:rPr>
              <a:t>HAPPENED</a:t>
            </a:r>
          </a:p>
        </p:txBody>
      </p:sp>
      <p:sp>
        <p:nvSpPr>
          <p:cNvPr id="8" name="TextBox 7"/>
          <p:cNvSpPr txBox="1"/>
          <p:nvPr/>
        </p:nvSpPr>
        <p:spPr>
          <a:xfrm>
            <a:off x="914400" y="2606039"/>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OpenSky became unreachable from every cloud host, mid-project.</a:t>
            </a:r>
          </a:p>
        </p:txBody>
      </p:sp>
      <p:sp>
        <p:nvSpPr>
          <p:cNvPr id="9" name="TextBox 8"/>
          <p:cNvSpPr txBox="1"/>
          <p:nvPr/>
        </p:nvSpPr>
        <p:spPr>
          <a:xfrm>
            <a:off x="914400" y="3172968"/>
            <a:ext cx="4718304" cy="603504"/>
          </a:xfrm>
          <a:prstGeom prst="rect">
            <a:avLst/>
          </a:prstGeom>
          <a:noFill/>
        </p:spPr>
        <p:txBody>
          <a:bodyPr wrap="square" lIns="0" rIns="0" tIns="0" bIns="0">
            <a:spAutoFit/>
          </a:bodyPr>
          <a:lstStyle/>
          <a:p>
            <a:pPr algn="l">
              <a:lnSpc>
                <a:spcPct val="120000"/>
              </a:lnSpc>
            </a:pPr>
            <a:r>
              <a:rPr sz="1150" b="0">
                <a:solidFill>
                  <a:srgbClr val="FC8337"/>
                </a:solidFill>
                <a:latin typeface="Roboto"/>
              </a:rPr>
              <a:t>Cost: one provider module and one registry entry. Nothing above the ingestion layer changed.</a:t>
            </a:r>
          </a:p>
        </p:txBody>
      </p:sp>
      <p:sp>
        <p:nvSpPr>
          <p:cNvPr id="10" name="Rounded Rectangle 9"/>
          <p:cNvSpPr/>
          <p:nvPr/>
        </p:nvSpPr>
        <p:spPr>
          <a:xfrm>
            <a:off x="6217920" y="1965960"/>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185415"/>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R2  Rate limited or banned</a:t>
            </a:r>
          </a:p>
        </p:txBody>
      </p:sp>
      <p:sp>
        <p:nvSpPr>
          <p:cNvPr id="12" name="TextBox 11"/>
          <p:cNvSpPr txBox="1"/>
          <p:nvPr/>
        </p:nvSpPr>
        <p:spPr>
          <a:xfrm>
            <a:off x="10195559" y="2221991"/>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13" name="TextBox 12"/>
          <p:cNvSpPr txBox="1"/>
          <p:nvPr/>
        </p:nvSpPr>
        <p:spPr>
          <a:xfrm>
            <a:off x="6473952" y="2606039"/>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One backend for all viewers; limits measured, not assumed.</a:t>
            </a:r>
          </a:p>
        </p:txBody>
      </p:sp>
      <p:sp>
        <p:nvSpPr>
          <p:cNvPr id="14" name="TextBox 13"/>
          <p:cNvSpPr txBox="1"/>
          <p:nvPr/>
        </p:nvSpPr>
        <p:spPr>
          <a:xfrm>
            <a:off x="6473952" y="3172968"/>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Four requests a minute against a measured cap of five.</a:t>
            </a:r>
          </a:p>
        </p:txBody>
      </p:sp>
      <p:sp>
        <p:nvSpPr>
          <p:cNvPr id="15" name="Rounded Rectangle 14"/>
          <p:cNvSpPr/>
          <p:nvPr/>
        </p:nvSpPr>
        <p:spPr>
          <a:xfrm>
            <a:off x="658368" y="4178808"/>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398264"/>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R3  Browser cannot draw the count</a:t>
            </a:r>
          </a:p>
        </p:txBody>
      </p:sp>
      <p:sp>
        <p:nvSpPr>
          <p:cNvPr id="17" name="TextBox 16"/>
          <p:cNvSpPr txBox="1"/>
          <p:nvPr/>
        </p:nvSpPr>
        <p:spPr>
          <a:xfrm>
            <a:off x="4636007" y="4434840"/>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18" name="TextBox 17"/>
          <p:cNvSpPr txBox="1"/>
          <p:nvPr/>
        </p:nvSpPr>
        <p:spPr>
          <a:xfrm>
            <a:off x="914400" y="4818888"/>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40,000 objects is not a legible map at any frame rate.</a:t>
            </a:r>
          </a:p>
        </p:txBody>
      </p:sp>
      <p:sp>
        <p:nvSpPr>
          <p:cNvPr id="19" name="TextBox 18"/>
          <p:cNvSpPr txBox="1"/>
          <p:nvPr/>
        </p:nvSpPr>
        <p:spPr>
          <a:xfrm>
            <a:off x="914400" y="5385816"/>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Responses thinned to 2,000; one layer at a time; positions interpolated between polls.</a:t>
            </a:r>
          </a:p>
        </p:txBody>
      </p:sp>
      <p:sp>
        <p:nvSpPr>
          <p:cNvPr id="20" name="Rounded Rectangle 19"/>
          <p:cNvSpPr/>
          <p:nvPr/>
        </p:nvSpPr>
        <p:spPr>
          <a:xfrm>
            <a:off x="6217920" y="4178808"/>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4398264"/>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R4  Free hosting proves insufficient</a:t>
            </a:r>
          </a:p>
        </p:txBody>
      </p:sp>
      <p:sp>
        <p:nvSpPr>
          <p:cNvPr id="22" name="TextBox 21"/>
          <p:cNvSpPr txBox="1"/>
          <p:nvPr/>
        </p:nvSpPr>
        <p:spPr>
          <a:xfrm>
            <a:off x="10195559" y="4434840"/>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23" name="TextBox 22"/>
          <p:cNvSpPr txBox="1"/>
          <p:nvPr/>
        </p:nvSpPr>
        <p:spPr>
          <a:xfrm>
            <a:off x="6473952" y="4818888"/>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Both hosts are free tiers. There is no budget to scale into.</a:t>
            </a:r>
          </a:p>
        </p:txBody>
      </p:sp>
      <p:sp>
        <p:nvSpPr>
          <p:cNvPr id="24" name="TextBox 23"/>
          <p:cNvSpPr txBox="1"/>
          <p:nvPr/>
        </p:nvSpPr>
        <p:spPr>
          <a:xfrm>
            <a:off x="6473952" y="5385816"/>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One worker by design, everything answered from memory. Scaling is a bigger box, not more boxes.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Three layers, one direction</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Each layer knows only the layer beneath it. The browser never talks to a data source, so rate limiting is enforced in exactly one place — a hundred tabs cost the same quota as one.</a:t>
            </a:r>
          </a:p>
        </p:txBody>
      </p:sp>
      <p:sp>
        <p:nvSpPr>
          <p:cNvPr id="5" name="Rounded Rectangle 4"/>
          <p:cNvSpPr/>
          <p:nvPr/>
        </p:nvSpPr>
        <p:spPr>
          <a:xfrm>
            <a:off x="3051798" y="1783080"/>
            <a:ext cx="6057923"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1-system-architecture.png"/>
          <p:cNvPicPr>
            <a:picLocks noChangeAspect="1"/>
          </p:cNvPicPr>
          <p:nvPr/>
        </p:nvPicPr>
        <p:blipFill>
          <a:blip r:embed="rId3"/>
          <a:stretch>
            <a:fillRect/>
          </a:stretch>
        </p:blipFill>
        <p:spPr>
          <a:xfrm>
            <a:off x="3161526" y="1892808"/>
            <a:ext cx="5838467" cy="45354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Two tables — and that is the design</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A tracker looks like a system that needs a large database. Orbital deliberately has almost none.</a:t>
            </a:r>
          </a:p>
        </p:txBody>
      </p:sp>
      <p:sp>
        <p:nvSpPr>
          <p:cNvPr id="5" name="Rounded Rectangle 4"/>
          <p:cNvSpPr/>
          <p:nvPr/>
        </p:nvSpPr>
        <p:spPr>
          <a:xfrm>
            <a:off x="4754678" y="1783080"/>
            <a:ext cx="6309762"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2-er-diagram.png"/>
          <p:cNvPicPr>
            <a:picLocks noChangeAspect="1"/>
          </p:cNvPicPr>
          <p:nvPr/>
        </p:nvPicPr>
        <p:blipFill>
          <a:blip r:embed="rId3"/>
          <a:stretch>
            <a:fillRect/>
          </a:stretch>
        </p:blipFill>
        <p:spPr>
          <a:xfrm>
            <a:off x="4864406" y="1892808"/>
            <a:ext cx="6090306"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Accounts and sessions</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The only state worth surviving a</a:t>
            </a:r>
          </a:p>
          <a:p>
            <a:pPr algn="l">
              <a:lnSpc>
                <a:spcPct val="125000"/>
              </a:lnSpc>
            </a:pPr>
            <a:r>
              <a:rPr sz="1200" b="0">
                <a:solidFill>
                  <a:srgbClr val="E5E0DF"/>
                </a:solidFill>
                <a:latin typeface="Roboto"/>
              </a:rPr>
              <a:t>restart. The raw session token is</a:t>
            </a:r>
          </a:p>
          <a:p>
            <a:pPr algn="l">
              <a:lnSpc>
                <a:spcPct val="125000"/>
              </a:lnSpc>
            </a:pPr>
            <a:r>
              <a:rPr sz="1200" b="0">
                <a:solidFill>
                  <a:srgbClr val="E5E0DF"/>
                </a:solidFill>
                <a:latin typeface="Roboto"/>
              </a:rPr>
              <a:t>returned once and never stored.</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Everything else is memory</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A poll replaces the snapshot.</a:t>
            </a:r>
          </a:p>
          <a:p>
            <a:pPr algn="l">
              <a:lnSpc>
                <a:spcPct val="125000"/>
              </a:lnSpc>
            </a:pPr>
            <a:r>
              <a:rPr sz="1200" b="0">
                <a:solidFill>
                  <a:srgbClr val="E5E0DF"/>
                </a:solidFill>
                <a:latin typeface="Roboto"/>
              </a:rPr>
              <a:t>No schema migration for the thing</a:t>
            </a:r>
          </a:p>
          <a:p>
            <a:pPr algn="l">
              <a:lnSpc>
                <a:spcPct val="125000"/>
              </a:lnSpc>
            </a:pPr>
            <a:r>
              <a:rPr sz="1200" b="0">
                <a:solidFill>
                  <a:srgbClr val="E5E0DF"/>
                </a:solidFill>
                <a:latin typeface="Roboto"/>
              </a:rPr>
              <a:t>that changes most: a feed's shape.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Why a second feed cost one file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UnionProvider inherits Provider and holds two of them. A caller cannot tell a pair of feeds from a single feed — which is why losing a primary source changed nothing above ingestion.</a:t>
            </a:r>
          </a:p>
        </p:txBody>
      </p:sp>
      <p:sp>
        <p:nvSpPr>
          <p:cNvPr id="5" name="Rounded Rectangle 4"/>
          <p:cNvSpPr/>
          <p:nvPr/>
        </p:nvSpPr>
        <p:spPr>
          <a:xfrm>
            <a:off x="2445137" y="1783080"/>
            <a:ext cx="7271244"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3-class-diagram.png"/>
          <p:cNvPicPr>
            <a:picLocks noChangeAspect="1"/>
          </p:cNvPicPr>
          <p:nvPr/>
        </p:nvPicPr>
        <p:blipFill>
          <a:blip r:embed="rId3"/>
          <a:stretch>
            <a:fillRect/>
          </a:stretch>
        </p:blipFill>
        <p:spPr>
          <a:xfrm>
            <a:off x="2554865" y="1892808"/>
            <a:ext cx="7051788" cy="45354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The interface, and the honesty line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Captured from the live deployment. The counts in the status bar are the real ones at the moment of capture.</a:t>
            </a:r>
          </a:p>
        </p:txBody>
      </p:sp>
      <p:sp>
        <p:nvSpPr>
          <p:cNvPr id="5" name="Rounded Rectangle 4"/>
          <p:cNvSpPr/>
          <p:nvPr/>
        </p:nvSpPr>
        <p:spPr>
          <a:xfrm>
            <a:off x="3889087" y="1783080"/>
            <a:ext cx="7858064"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_app.png"/>
          <p:cNvPicPr>
            <a:picLocks noChangeAspect="1"/>
          </p:cNvPicPr>
          <p:nvPr/>
        </p:nvPicPr>
        <p:blipFill>
          <a:blip r:embed="rId3"/>
          <a:stretch>
            <a:fillRect/>
          </a:stretch>
        </p:blipFill>
        <p:spPr>
          <a:xfrm>
            <a:off x="3998815" y="1892808"/>
            <a:ext cx="7638608" cy="4535424"/>
          </a:xfrm>
          <a:prstGeom prst="rect">
            <a:avLst/>
          </a:prstGeom>
        </p:spPr>
      </p:pic>
      <p:sp>
        <p:nvSpPr>
          <p:cNvPr id="7" name="TextBox 6"/>
          <p:cNvSpPr txBox="1"/>
          <p:nvPr/>
        </p:nvSpPr>
        <p:spPr>
          <a:xfrm>
            <a:off x="658368" y="1965960"/>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The map is the product</a:t>
            </a:r>
          </a:p>
        </p:txBody>
      </p:sp>
      <p:sp>
        <p:nvSpPr>
          <p:cNvPr id="8" name="TextBox 7"/>
          <p:cNvSpPr txBox="1"/>
          <p:nvPr/>
        </p:nvSpPr>
        <p:spPr>
          <a:xfrm>
            <a:off x="658368" y="2350008"/>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Controls sit in the corners.</a:t>
            </a:r>
          </a:p>
          <a:p>
            <a:pPr algn="l">
              <a:lnSpc>
                <a:spcPct val="125000"/>
              </a:lnSpc>
            </a:pPr>
            <a:r>
              <a:rPr sz="1150" b="0">
                <a:solidFill>
                  <a:srgbClr val="E5E0DF"/>
                </a:solidFill>
                <a:latin typeface="Roboto"/>
              </a:rPr>
              <a:t>Nothing floats over the centre.</a:t>
            </a:r>
          </a:p>
        </p:txBody>
      </p:sp>
      <p:sp>
        <p:nvSpPr>
          <p:cNvPr id="9" name="TextBox 8"/>
          <p:cNvSpPr txBox="1"/>
          <p:nvPr/>
        </p:nvSpPr>
        <p:spPr>
          <a:xfrm>
            <a:off x="658368" y="3447288"/>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One layer at a time</a:t>
            </a:r>
          </a:p>
        </p:txBody>
      </p:sp>
      <p:sp>
        <p:nvSpPr>
          <p:cNvPr id="10" name="TextBox 9"/>
          <p:cNvSpPr txBox="1"/>
          <p:nvPr/>
        </p:nvSpPr>
        <p:spPr>
          <a:xfrm>
            <a:off x="658368" y="3831336"/>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Three at once is 40,000 markers</a:t>
            </a:r>
          </a:p>
          <a:p>
            <a:pPr algn="l">
              <a:lnSpc>
                <a:spcPct val="125000"/>
              </a:lnSpc>
            </a:pPr>
            <a:r>
              <a:rPr sz="1150" b="0">
                <a:solidFill>
                  <a:srgbClr val="E5E0DF"/>
                </a:solidFill>
                <a:latin typeface="Roboto"/>
              </a:rPr>
              <a:t>and no legible map.</a:t>
            </a:r>
          </a:p>
        </p:txBody>
      </p:sp>
      <p:sp>
        <p:nvSpPr>
          <p:cNvPr id="11" name="TextBox 10"/>
          <p:cNvSpPr txBox="1"/>
          <p:nvPr/>
        </p:nvSpPr>
        <p:spPr>
          <a:xfrm>
            <a:off x="658368" y="4928616"/>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It reports its own limits</a:t>
            </a:r>
          </a:p>
        </p:txBody>
      </p:sp>
      <p:sp>
        <p:nvSpPr>
          <p:cNvPr id="12" name="TextBox 11"/>
          <p:cNvSpPr txBox="1"/>
          <p:nvPr/>
        </p:nvSpPr>
        <p:spPr>
          <a:xfrm>
            <a:off x="658368" y="5312664"/>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2,000 of 13,607 drawn, the data age,</a:t>
            </a:r>
          </a:p>
          <a:p>
            <a:pPr algn="l">
              <a:lnSpc>
                <a:spcPct val="125000"/>
              </a:lnSpc>
            </a:pPr>
            <a:r>
              <a:rPr sz="1150" b="0">
                <a:solidFill>
                  <a:srgbClr val="E5E0DF"/>
                </a:solidFill>
                <a:latin typeface="Roboto"/>
              </a:rPr>
              <a:t>and which feed answered.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TotalTime>
  <Words>353</Words>
  <Application>Microsoft Office PowerPoint</Application>
  <PresentationFormat>Widescreen</PresentationFormat>
  <Paragraphs>46</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Roboto Bold</vt:lpstr>
      <vt:lpstr>Roboto</vt:lpstr>
      <vt:lpstr>Saira Medium</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lastModifiedBy>Phone Sett Paing Kyaw</cp:lastModifiedBy>
  <cp:revision>3</cp:revision>
  <dcterms:created xsi:type="dcterms:W3CDTF">2026-09-08T03:15:10Z</dcterms:created>
  <dcterms:modified xsi:type="dcterms:W3CDTF">2026-09-08T05:22:35Z</dcterms:modified>
</cp:coreProperties>
</file>