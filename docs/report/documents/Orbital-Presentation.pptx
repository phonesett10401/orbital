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61" r:id="rId7"/>
  </p:sldIdLst>
  <p:sldSz cx="12192000" cy="6858000"/>
  <p:notesSz cx="6858000" cy="12192000"/>
  <p:embeddedFontLst>
    <p:embeddedFont>
      <p:font typeface="Roboto" panose="02000000000000000000" pitchFamily="2" charset="0"/>
      <p:regular r:id="rId9"/>
    </p:embeddedFont>
    <p:embeddedFont>
      <p:font typeface="Roboto Bold" panose="020B0604020202020204" charset="0"/>
      <p:regular r:id="rId10"/>
    </p:embeddedFont>
    <p:embeddedFont>
      <p:font typeface="Saira Medium" panose="020B0604020202020204" charset="0"/>
      <p:regular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01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046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Six work packages. Note that backend is broken down by delivered phase rather than by component — that is what makes the cost of each new object type visible.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Milestones at weeks 3, 8 and 11. The critical path is the first vertical slice; everything after it runs in parallel because the shared data shape was fixed before any provider was written.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R1 is the one worth dwelling on: the architecture was designed so that a feed disappearing costs one module. When it happened, that is exactly what it cost.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Five external feeds, three internal layers. The single most important property: upstream failure is contained at layer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honest cost: Orbital cannot answer a question about last Tuesday. Entitlement windows are bounded by what is still in memory, not by a query.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Seven concrete providers, one abstraction. The API never holds a Provider, so there is no call path from a request to a socket.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A feed that goes dark costs freshness — which is visible and labelled — rather than costing the map, which would not be.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status bar states that 2,000 of 13,607 objects in view are drawn, how old the data is, and which feed answered. A tracker that showed a sample as though it were everything would be easier to build and would be lying.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svg"/><Relationship Id="rId4" Type="http://schemas.openxmlformats.org/officeDocument/2006/relationships/image" Target="../media/image8.svg"/><Relationship Id="rId5" Type="http://schemas.openxmlformats.org/officeDocument/2006/relationships/image" Target="../media/image9.pn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8376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Orbital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6" y="2757884"/>
            <a:ext cx="8217830" cy="1630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1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Live Aircraft, Ship &amp; Satellite Tracking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661475" y="467171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CSC480 · Team Orbital ·  </a:t>
            </a:r>
            <a:endParaRPr lang="en-US" sz="14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2EE799-85C7-0572-20B4-B7329CD80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pic>
        <p:nvPicPr>
          <p:cNvPr id="10" name="Orbital log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0808" y="1876482"/>
            <a:ext cx="3097652" cy="30976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775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The Problem: Fragmented &amp; Closed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96430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tracking data for aircraft, ships, and satellites </a:t>
            </a: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does exist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but it's scattered across siloed APIs, raw and unprocessed, metered by strict rate limits, and locked behind commercial paywalls. No free tool shows all three on a single map.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213894"/>
            <a:ext cx="10868745" cy="2216348"/>
          </a:xfrm>
          <a:prstGeom prst="roundRect">
            <a:avLst>
              <a:gd name="adj" fmla="val 7676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0524" y="3232944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141764" y="0"/>
                </a:moveTo>
                <a:lnTo>
                  <a:pt x="5415323" y="0"/>
                </a:lnTo>
                <a:lnTo>
                  <a:pt x="5415323" y="1089124"/>
                </a:lnTo>
                <a:lnTo>
                  <a:pt x="0" y="1089124"/>
                </a:lnTo>
                <a:lnTo>
                  <a:pt x="0" y="141768"/>
                </a:lnTo>
                <a:arcTo wR="141764" hR="141768" stAng="10800000" swAng="5400000"/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9531" y="3421955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Fragmented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69531" y="3830638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lives in separate, incompatible sources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095848" y="3232944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0" y="0"/>
                </a:moveTo>
                <a:lnTo>
                  <a:pt x="5273559" y="0"/>
                </a:lnTo>
                <a:arcTo wR="141764" hR="141768" stAng="16200000" swAng="5400000"/>
                <a:lnTo>
                  <a:pt x="5415323" y="1089124"/>
                </a:lnTo>
                <a:lnTo>
                  <a:pt x="0" y="1089124"/>
                </a:lnTo>
                <a:lnTo>
                  <a:pt x="0" y="0"/>
                </a:lnTo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95848" y="3232944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84854" y="3421955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Raw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284854" y="3830638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Unprocessed, inconsistent formats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0524" y="4322068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0" y="0"/>
                </a:moveTo>
                <a:lnTo>
                  <a:pt x="5415323" y="0"/>
                </a:lnTo>
                <a:lnTo>
                  <a:pt x="5415323" y="1089124"/>
                </a:lnTo>
                <a:lnTo>
                  <a:pt x="141764" y="1089124"/>
                </a:lnTo>
                <a:arcTo wR="141764" hR="141768" stAng="5400000" swAng="5400000"/>
                <a:lnTo>
                  <a:pt x="0" y="0"/>
                </a:lnTo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0524" y="4322068"/>
            <a:ext cx="5415323" cy="25400"/>
          </a:xfrm>
          <a:prstGeom prst="roundRect">
            <a:avLst>
              <a:gd name="adj" fmla="val 49999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9531" y="4511080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Metered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69531" y="4919762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Strict rate limits on every API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095848" y="4322068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0" y="0"/>
                </a:moveTo>
                <a:lnTo>
                  <a:pt x="5415323" y="0"/>
                </a:lnTo>
                <a:lnTo>
                  <a:pt x="5415323" y="947357"/>
                </a:lnTo>
                <a:arcTo wR="141764" hR="141768" stAng="0" swAng="5400000"/>
                <a:lnTo>
                  <a:pt x="0" y="1089124"/>
                </a:lnTo>
                <a:lnTo>
                  <a:pt x="0" y="0"/>
                </a:lnTo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95848" y="4322068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95848" y="4322068"/>
            <a:ext cx="5415323" cy="25400"/>
          </a:xfrm>
          <a:prstGeom prst="roundRect">
            <a:avLst>
              <a:gd name="adj" fmla="val 49999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84854" y="4511080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Closed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284854" y="4919762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gatekeeping blocks free access</a:t>
            </a:r>
            <a:endParaRPr lang="en-US" sz="14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D5A6A5B-50E0-9431-83F8-9475F69D9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032"/>
            <a:ext cx="10868745" cy="5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Architecture &amp; Methodology 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61475" y="1387773"/>
            <a:ext cx="10868745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Orbital is built on a </a:t>
            </a: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strictly </a:t>
            </a:r>
            <a:r>
              <a:rPr lang="en-US" sz="14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one-directional pipeline 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also known as </a:t>
            </a:r>
            <a:r>
              <a:rPr lang="en-US" sz="14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Incremental Development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data flows Ingestion → API → Frontend. Each layer has a single responsibility, and the frontend never touches a raw external source.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325" y="2076901"/>
            <a:ext cx="7848886" cy="35338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31494" y="4756139"/>
            <a:ext cx="244542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Frontend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931494" y="3690995"/>
            <a:ext cx="244542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API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931494" y="2614981"/>
            <a:ext cx="244542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Ingestion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61475" y="5793383"/>
            <a:ext cx="10868745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</a:t>
            </a: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single shared data shape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unifies aircraft, satellites, and ships — so adding a new object type costs one ingestion module and zero frontend changes.</a:t>
            </a:r>
            <a:endParaRPr lang="en-US" sz="13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2E7193-AF3A-F9C2-2A63-C27201328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9463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Feasibility &amp; Performance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757759"/>
            <a:ext cx="350421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Live Data at Scale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242046"/>
            <a:ext cx="3504219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Orbital is built entirely on </a:t>
            </a: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free, publicly available data sources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The technical challenge is manageable — the real constraint is rate limiting, not data availability.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4013994"/>
            <a:ext cx="3504219" cy="25400"/>
          </a:xfrm>
          <a:prstGeom prst="roundRect">
            <a:avLst>
              <a:gd name="adj" fmla="val 49999"/>
            </a:avLst>
          </a:prstGeom>
          <a:solidFill>
            <a:srgbClr val="E5E0D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4299248"/>
            <a:ext cx="350421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Rendering Targets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4783534"/>
            <a:ext cx="350421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API response times and frontend rendering performance sit </a:t>
            </a: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comfortably inside target thresholds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even under full load with all three object types active.</a:t>
            </a:r>
            <a:endParaRPr lang="en-US" sz="14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EF3A9E-7DEE-CCFC-2D8B-1470EBD63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pic>
        <p:nvPicPr>
          <p:cNvPr id="10" name="Backend cost per stage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000" y="1700000"/>
            <a:ext cx="6600000" cy="4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6">
            <a:extLst>
              <a:ext uri="{FF2B5EF4-FFF2-40B4-BE49-F238E27FC236}">
                <a16:creationId xmlns:a16="http://schemas.microsoft.com/office/drawing/2014/main" id="{1BE4933A-DFD9-19B7-E889-B881A99597E8}"/>
              </a:ext>
            </a:extLst>
          </p:cNvPr>
          <p:cNvSpPr/>
          <p:nvPr/>
        </p:nvSpPr>
        <p:spPr>
          <a:xfrm>
            <a:off x="6282379" y="1844878"/>
            <a:ext cx="5630627" cy="3650380"/>
          </a:xfrm>
          <a:prstGeom prst="roundRect">
            <a:avLst>
              <a:gd name="adj" fmla="val 6837"/>
            </a:avLst>
          </a:prstGeom>
          <a:solidFill>
            <a:schemeClr val="bg1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661627" y="47125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Reliability &amp; Use case 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627" y="1061908"/>
            <a:ext cx="5899746" cy="680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Upstream failure is expected, not exceptional. Orbital handles it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at every layer so the user never sees a blank screen.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0278" y="2040555"/>
            <a:ext cx="2497675" cy="3145182"/>
          </a:xfrm>
          <a:prstGeom prst="roundRect">
            <a:avLst>
              <a:gd name="adj" fmla="val 6837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0465" y="2236585"/>
            <a:ext cx="534152" cy="519494"/>
          </a:xfrm>
          <a:prstGeom prst="ellipse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6317" y="2333648"/>
            <a:ext cx="322449" cy="32245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334" y="3004663"/>
            <a:ext cx="2289619" cy="373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Stale-but-Flagged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68334" y="3413344"/>
            <a:ext cx="2289619" cy="1146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a source goes dark, last-known data is served with a visible freshness indicator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310750" y="2040555"/>
            <a:ext cx="2598873" cy="3145182"/>
          </a:xfrm>
          <a:prstGeom prst="roundRect">
            <a:avLst>
              <a:gd name="adj" fmla="val 6837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546970" y="2296125"/>
            <a:ext cx="578058" cy="539184"/>
          </a:xfrm>
          <a:prstGeom prst="ellipse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74775" y="2404489"/>
            <a:ext cx="322449" cy="32245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8807" y="3004663"/>
            <a:ext cx="2289619" cy="373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Dual Sources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3518807" y="3413344"/>
            <a:ext cx="2289619" cy="1146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Critical object types are backed by two independent feeds — one failure is never fatal</a:t>
            </a:r>
            <a:endParaRPr lang="en-US" sz="14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D40B81A-2200-85C7-7CF0-578FDA298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8388" y="2040555"/>
            <a:ext cx="4863147" cy="321228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55B9EA1-BD71-D1C6-0A59-4610AEC0C4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051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What Orbital Delivers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389187"/>
            <a:ext cx="5339820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9531" y="2597249"/>
            <a:ext cx="49237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One Map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69531" y="3005931"/>
            <a:ext cx="49237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Aircraft, ships, and satellites — unified, free, in a single browser view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90301" y="2389187"/>
            <a:ext cx="5339919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398358" y="2597249"/>
            <a:ext cx="4923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Resilient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98358" y="3005931"/>
            <a:ext cx="49238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Survives upstream failure with flagged stale data and dual-source fallbacks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4007842"/>
            <a:ext cx="5339820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9531" y="4215904"/>
            <a:ext cx="49237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Extensible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69531" y="4624586"/>
            <a:ext cx="49237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 object types cost one module — the architecture scales without rework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90301" y="4007842"/>
            <a:ext cx="5339919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98358" y="4215904"/>
            <a:ext cx="4923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Performant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398358" y="4624586"/>
            <a:ext cx="49238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aircraft rendered in under 2 seconds, rate-limit budget protected</a:t>
            </a: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569C8CB-EA1D-2CD3-E17F-A81CA2076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Planning: six packages, five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Seven roles across five members, so most hold two. Work is decomposed to the level where one person owns one deliverable — any deeper and a WBS is a task list that is stale in a week.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38917" y="1783080"/>
            <a:ext cx="4941284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-1-work-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645" y="1892808"/>
            <a:ext cx="4721828" cy="4489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Phase, not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Package 3 is split by delivered phase.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 component split would describe the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architecture, not the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One owner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519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Every 1.x deliverable has a name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against it, not a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The plan, and the three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Twelve weeks. This is the plan the team worked to, not a chart redrawn afterwards to match what happened — keeping those apart is the only reason comparing them is worth anything.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27579" y="1783080"/>
            <a:ext cx="5163961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-2-gantt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307" y="1892808"/>
            <a:ext cx="4944505" cy="4489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The critical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Requirements → data contract 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first provider → poller and store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→ API → first layer on 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Then it goes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519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Satellites, ships and accounts each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touch a different provider or route.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None blocks another — by 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Risk: two of them actually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A register listing only the risks that were survived cheaply is not a register. Both realised risks are shown with what they actually cost.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222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85415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R1  Upstream feed disappears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6007" y="222199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FC8337"/>
                </a:solidFill>
                <a:latin typeface="Saira Medium"/>
              </a:rPr>
              <a:t>REALISED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39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OpenSky became unreachable from every cloud host, mid-project.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72968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FC8337"/>
                </a:solidFill>
                <a:latin typeface="Roboto"/>
              </a:rPr>
              <a:t>Cost: one provider module and one registry entry. Nothing above the ingestion layer changed.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222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185415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R7  A defect resists diagnosis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59" y="222199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FC8337"/>
                </a:solidFill>
                <a:latin typeface="Saira Medium"/>
              </a:rPr>
              <a:t>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606039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One defect misdiagnosed five times across six working sessions.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172968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FC8337"/>
                </a:solidFill>
                <a:latin typeface="Roboto"/>
              </a:rPr>
              <a:t>Cause was structural. The fix deleted 376 lines, added 130, and cost no feature.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178808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982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R2  Rate limited or banned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443484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E5E0DF"/>
                </a:solidFill>
                <a:latin typeface="Saira Medium"/>
              </a:rPr>
              <a:t>HELD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18888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One backend for all viewers; limits measured, not assumed.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85816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Four requests a minute against a measured cap of five.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178808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3982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R4  Browser cannot draw the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5559" y="443484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E5E0DF"/>
                </a:solidFill>
                <a:latin typeface="Saira Medium"/>
              </a:rPr>
              <a:t>HELD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818888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40,000 objects is not a legible map at any frame rate.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5385816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Responses thinned to 2,000; one layer at a time; positions interpolated between polls.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Three layers, one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Each layer knows only the layer beneath it. The browser never talks to a data source, so rate limiting is enforced in exactly one place — a hundred tabs cost the same quota as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1798" y="1783080"/>
            <a:ext cx="6057923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1-system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526" y="1892808"/>
            <a:ext cx="5838467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Two tables — and that is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A tracker looks like a system that needs a large database. Orbital deliberately has almost none.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678" y="1783080"/>
            <a:ext cx="6309762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2-er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406" y="1892808"/>
            <a:ext cx="6090306" cy="4489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Accounts and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The only state worth surviving a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restart. The raw session token is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returned once and never stored.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Everything else is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519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 poll replaces the snapshot.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No schema migration for the thing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that changes most: a feed's shape.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Why a second feed cost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UnionProvider inherits Provider and holds two of them. A caller cannot tell a pair of feeds from a single feed — which is why losing a primary source changed nothing above ingestion.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45137" y="1783080"/>
            <a:ext cx="7271244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3-class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4865" y="1892808"/>
            <a:ext cx="7051788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Three of the four outcomes are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An activity diagram of the happy path would be a straight line and would say nothing. The branches are the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67251" y="1783080"/>
            <a:ext cx="4336377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5-activity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79" y="1892808"/>
            <a:ext cx="4116921" cy="44897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1965960"/>
            <a:ext cx="5715000" cy="91440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12264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Saira Medium"/>
              </a:rPr>
              <a:t>Records returned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52120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Normalise, apply, reset the backoff.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44952"/>
            <a:ext cx="5715000" cy="91440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Saira Medium"/>
              </a:rPr>
              <a:t>Rate limited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47872"/>
            <a:ext cx="52120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Honour Retry-After, double the backoff, keep the snapshot.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23944"/>
            <a:ext cx="5715000" cy="91440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Saira Medium"/>
              </a:rPr>
              <a:t>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26864"/>
            <a:ext cx="52120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Keep the previous snapshot. Mark the store stale.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02936"/>
            <a:ext cx="5715000" cy="91440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Saira Medium"/>
              </a:rPr>
              <a:t>Bad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05855"/>
            <a:ext cx="52120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A malformed answer is treated as no answer.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2764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C8337"/>
                </a:solidFill>
                <a:latin typeface="Saira Medium"/>
              </a:rPr>
              <a:t>None of the three failures empties the store.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The interface, and the honesty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Captured from the live deployment. The counts in the status bar are the real ones at the moment of capture.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9087" y="1783080"/>
            <a:ext cx="7858064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8815" y="1892808"/>
            <a:ext cx="7638608" cy="45354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96596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The map is the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Controls sit in the corners.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Nothing floats over the centre.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472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One layer at a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31336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Three at once is 40,000 markers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and no legible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92861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It reports its own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12664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2,000 of 13,607 drawn, the data age,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and which feed answered.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353</Words>
  <Application>Microsoft Office PowerPoint</Application>
  <PresentationFormat>Widescreen</PresentationFormat>
  <Paragraphs>46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Roboto Bold</vt:lpstr>
      <vt:lpstr>Roboto</vt:lpstr>
      <vt:lpstr>Saira Medium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Phone Sett Paing Kyaw</cp:lastModifiedBy>
  <cp:revision>3</cp:revision>
  <dcterms:created xsi:type="dcterms:W3CDTF">2026-09-08T03:15:10Z</dcterms:created>
  <dcterms:modified xsi:type="dcterms:W3CDTF">2026-09-08T05:22:35Z</dcterms:modified>
</cp:coreProperties>
</file>